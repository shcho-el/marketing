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60000" cy="10692000"/>
          </a:xfrm>
          <a:prstGeom prst="rect">
            <a:avLst/>
          </a:prstGeom>
          <a:solidFill>
            <a:srgbClr val="2C1A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040000" y="-540000"/>
            <a:ext cx="3060000" cy="3060000"/>
          </a:xfrm>
          <a:prstGeom prst="ellipse">
            <a:avLst/>
          </a:prstGeom>
          <a:solidFill>
            <a:srgbClr val="5025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360000" y="8460000"/>
            <a:ext cx="2700000" cy="2700000"/>
          </a:xfrm>
          <a:prstGeom prst="ellipse">
            <a:avLst/>
          </a:prstGeom>
          <a:solidFill>
            <a:srgbClr val="421C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232000" y="2844000"/>
            <a:ext cx="3096000" cy="324000"/>
          </a:xfrm>
          <a:prstGeom prst="rect">
            <a:avLst/>
          </a:prstGeom>
          <a:noFill/>
          <a:ln w="762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54000" rIns="72000" bIns="54000"/>
          <a:lstStyle/>
          <a:p>
            <a:pPr algn="ctr"/>
            <a:r>
              <a:rPr sz="750">
                <a:solidFill>
                  <a:srgbClr val="D97036"/>
                </a:solidFill>
                <a:latin typeface="Bernhard Modern"/>
              </a:rPr>
              <a:t>CONSULTATION BINDER</a:t>
            </a:r>
          </a:p>
        </p:txBody>
      </p:sp>
      <p:sp>
        <p:nvSpPr>
          <p:cNvPr id="6" name="TextBox 5"/>
          <p:cNvSpPr txBox="1"/>
          <p:nvPr/>
        </p:nvSpPr>
        <p:spPr>
          <a:xfrm>
            <a:off x="720000" y="3348000"/>
            <a:ext cx="6120000" cy="792000"/>
          </a:xfrm>
          <a:prstGeom prst="rect">
            <a:avLst/>
          </a:prstGeom>
          <a:noFill/>
        </p:spPr>
        <p:txBody>
          <a:bodyPr wrap="square" lIns="72000" tIns="54000" rIns="72000" bIns="54000">
            <a:spAutoFit/>
          </a:bodyPr>
          <a:lstStyle/>
          <a:p>
            <a:pPr algn="ctr"/>
            <a:r>
              <a:rPr sz="3200" b="1">
                <a:solidFill>
                  <a:srgbClr val="FFFFFF"/>
                </a:solidFill>
                <a:latin typeface="Pretendard"/>
              </a:rPr>
              <a:t>오블리브의원</a:t>
            </a:r>
          </a:p>
        </p:txBody>
      </p:sp>
      <p:sp>
        <p:nvSpPr>
          <p:cNvPr id="7" name="TextBox 6"/>
          <p:cNvSpPr txBox="1"/>
          <p:nvPr/>
        </p:nvSpPr>
        <p:spPr>
          <a:xfrm>
            <a:off x="720000" y="4176000"/>
            <a:ext cx="6120000" cy="324000"/>
          </a:xfrm>
          <a:prstGeom prst="rect">
            <a:avLst/>
          </a:prstGeom>
          <a:noFill/>
        </p:spPr>
        <p:txBody>
          <a:bodyPr wrap="square" lIns="72000" tIns="54000" rIns="72000" bIns="54000">
            <a:spAutoFit/>
          </a:bodyPr>
          <a:lstStyle/>
          <a:p>
            <a:pPr algn="ctr"/>
            <a:r>
              <a:rPr sz="1000" b="0">
                <a:solidFill>
                  <a:srgbClr val="F0956A"/>
                </a:solidFill>
                <a:latin typeface="Bernhard Modern"/>
              </a:rPr>
              <a:t>O B L I V   C L I N I C</a:t>
            </a:r>
          </a:p>
        </p:txBody>
      </p:sp>
      <p:sp>
        <p:nvSpPr>
          <p:cNvPr id="8" name="Rectangle 7"/>
          <p:cNvSpPr/>
          <p:nvPr/>
        </p:nvSpPr>
        <p:spPr>
          <a:xfrm>
            <a:off x="3060000" y="4680000"/>
            <a:ext cx="1440000" cy="36000"/>
          </a:xfrm>
          <a:prstGeom prst="rect">
            <a:avLst/>
          </a:prstGeom>
          <a:solidFill>
            <a:srgbClr val="D9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000" y="4896000"/>
            <a:ext cx="6120000" cy="576000"/>
          </a:xfrm>
          <a:prstGeom prst="rect">
            <a:avLst/>
          </a:prstGeom>
          <a:noFill/>
        </p:spPr>
        <p:txBody>
          <a:bodyPr wrap="square" lIns="72000" tIns="54000" rIns="72000" bIns="54000">
            <a:spAutoFit/>
          </a:bodyPr>
          <a:lstStyle/>
          <a:p>
            <a:pPr algn="ctr"/>
            <a:r>
              <a:rPr sz="2200" b="0">
                <a:solidFill>
                  <a:srgbClr val="FFFFFF"/>
                </a:solidFill>
                <a:latin typeface="Pretendard"/>
              </a:rPr>
              <a:t>더마웨이브 트리트먼트</a:t>
            </a:r>
          </a:p>
        </p:txBody>
      </p:sp>
      <p:sp>
        <p:nvSpPr>
          <p:cNvPr id="10" name="TextBox 9"/>
          <p:cNvSpPr txBox="1"/>
          <p:nvPr/>
        </p:nvSpPr>
        <p:spPr>
          <a:xfrm>
            <a:off x="720000" y="5544000"/>
            <a:ext cx="6120000" cy="324000"/>
          </a:xfrm>
          <a:prstGeom prst="rect">
            <a:avLst/>
          </a:prstGeom>
          <a:noFill/>
        </p:spPr>
        <p:txBody>
          <a:bodyPr wrap="square" lIns="72000" tIns="54000" rIns="72000" bIns="54000">
            <a:spAutoFit/>
          </a:bodyPr>
          <a:lstStyle/>
          <a:p>
            <a:pPr algn="ctr"/>
            <a:r>
              <a:rPr sz="1000" b="0">
                <a:solidFill>
                  <a:srgbClr val="CCCCCC"/>
                </a:solidFill>
                <a:latin typeface="Bernhard Modern"/>
              </a:rPr>
              <a:t>DERMAWAVE TREATMENT GUIDE</a:t>
            </a:r>
          </a:p>
        </p:txBody>
      </p:sp>
      <p:sp>
        <p:nvSpPr>
          <p:cNvPr id="11" name="Rectangle 10"/>
          <p:cNvSpPr/>
          <p:nvPr/>
        </p:nvSpPr>
        <p:spPr>
          <a:xfrm>
            <a:off x="612000" y="6084000"/>
            <a:ext cx="1440000" cy="288000"/>
          </a:xfrm>
          <a:prstGeom prst="rect">
            <a:avLst/>
          </a:prstGeom>
          <a:solidFill>
            <a:srgbClr val="3C2210"/>
          </a:solidFill>
          <a:ln w="6350">
            <a:solidFill>
              <a:srgbClr val="7A3815"/>
            </a:solidFill>
          </a:ln>
        </p:spPr>
        <p:style>
          <a:lnRef idx="1">
            <a:schemeClr val="accent1"/>
          </a:lnRef>
          <a:fillRef idx="3">
            <a:schemeClr val="accent1"/>
          </a:fillRef>
          <a:effectRef idx="2">
            <a:schemeClr val="accent1"/>
          </a:effectRef>
          <a:fontRef idx="minor">
            <a:schemeClr val="lt1"/>
          </a:fontRef>
        </p:style>
        <p:txBody>
          <a:bodyPr rtlCol="0" anchor="ctr" lIns="36000" tIns="54000" rIns="36000" bIns="54000"/>
          <a:lstStyle/>
          <a:p>
            <a:pPr algn="ctr"/>
            <a:r>
              <a:rPr sz="800">
                <a:solidFill>
                  <a:srgbClr val="F0956A"/>
                </a:solidFill>
                <a:latin typeface="Pretendard"/>
              </a:rPr>
              <a:t>RF 고주파</a:t>
            </a:r>
          </a:p>
        </p:txBody>
      </p:sp>
      <p:sp>
        <p:nvSpPr>
          <p:cNvPr id="12" name="Rectangle 11"/>
          <p:cNvSpPr/>
          <p:nvPr/>
        </p:nvSpPr>
        <p:spPr>
          <a:xfrm>
            <a:off x="2196000" y="6084000"/>
            <a:ext cx="1440000" cy="288000"/>
          </a:xfrm>
          <a:prstGeom prst="rect">
            <a:avLst/>
          </a:prstGeom>
          <a:solidFill>
            <a:srgbClr val="3C2210"/>
          </a:solidFill>
          <a:ln w="6350">
            <a:solidFill>
              <a:srgbClr val="7A3815"/>
            </a:solidFill>
          </a:ln>
        </p:spPr>
        <p:style>
          <a:lnRef idx="1">
            <a:schemeClr val="accent1"/>
          </a:lnRef>
          <a:fillRef idx="3">
            <a:schemeClr val="accent1"/>
          </a:fillRef>
          <a:effectRef idx="2">
            <a:schemeClr val="accent1"/>
          </a:effectRef>
          <a:fontRef idx="minor">
            <a:schemeClr val="lt1"/>
          </a:fontRef>
        </p:style>
        <p:txBody>
          <a:bodyPr rtlCol="0" anchor="ctr" lIns="36000" tIns="54000" rIns="36000" bIns="54000"/>
          <a:lstStyle/>
          <a:p>
            <a:pPr algn="ctr"/>
            <a:r>
              <a:rPr sz="800">
                <a:solidFill>
                  <a:srgbClr val="F0956A"/>
                </a:solidFill>
                <a:latin typeface="Pretendard"/>
              </a:rPr>
              <a:t>근막 리모델링</a:t>
            </a:r>
          </a:p>
        </p:txBody>
      </p:sp>
      <p:sp>
        <p:nvSpPr>
          <p:cNvPr id="13" name="Rectangle 12"/>
          <p:cNvSpPr/>
          <p:nvPr/>
        </p:nvSpPr>
        <p:spPr>
          <a:xfrm>
            <a:off x="3780000" y="6084000"/>
            <a:ext cx="1440000" cy="288000"/>
          </a:xfrm>
          <a:prstGeom prst="rect">
            <a:avLst/>
          </a:prstGeom>
          <a:solidFill>
            <a:srgbClr val="3C2210"/>
          </a:solidFill>
          <a:ln w="6350">
            <a:solidFill>
              <a:srgbClr val="7A3815"/>
            </a:solidFill>
          </a:ln>
        </p:spPr>
        <p:style>
          <a:lnRef idx="1">
            <a:schemeClr val="accent1"/>
          </a:lnRef>
          <a:fillRef idx="3">
            <a:schemeClr val="accent1"/>
          </a:fillRef>
          <a:effectRef idx="2">
            <a:schemeClr val="accent1"/>
          </a:effectRef>
          <a:fontRef idx="minor">
            <a:schemeClr val="lt1"/>
          </a:fontRef>
        </p:style>
        <p:txBody>
          <a:bodyPr rtlCol="0" anchor="ctr" lIns="36000" tIns="54000" rIns="36000" bIns="54000"/>
          <a:lstStyle/>
          <a:p>
            <a:pPr algn="ctr"/>
            <a:r>
              <a:rPr sz="800">
                <a:solidFill>
                  <a:srgbClr val="F0956A"/>
                </a:solidFill>
                <a:latin typeface="Pretendard"/>
              </a:rPr>
              <a:t>비침습 시술</a:t>
            </a:r>
          </a:p>
        </p:txBody>
      </p:sp>
      <p:sp>
        <p:nvSpPr>
          <p:cNvPr id="14" name="Rectangle 13"/>
          <p:cNvSpPr/>
          <p:nvPr/>
        </p:nvSpPr>
        <p:spPr>
          <a:xfrm>
            <a:off x="5364000" y="6084000"/>
            <a:ext cx="1440000" cy="288000"/>
          </a:xfrm>
          <a:prstGeom prst="rect">
            <a:avLst/>
          </a:prstGeom>
          <a:solidFill>
            <a:srgbClr val="3C2210"/>
          </a:solidFill>
          <a:ln w="6350">
            <a:solidFill>
              <a:srgbClr val="7A3815"/>
            </a:solidFill>
          </a:ln>
        </p:spPr>
        <p:style>
          <a:lnRef idx="1">
            <a:schemeClr val="accent1"/>
          </a:lnRef>
          <a:fillRef idx="3">
            <a:schemeClr val="accent1"/>
          </a:fillRef>
          <a:effectRef idx="2">
            <a:schemeClr val="accent1"/>
          </a:effectRef>
          <a:fontRef idx="minor">
            <a:schemeClr val="lt1"/>
          </a:fontRef>
        </p:style>
        <p:txBody>
          <a:bodyPr rtlCol="0" anchor="ctr" lIns="36000" tIns="54000" rIns="36000" bIns="54000"/>
          <a:lstStyle/>
          <a:p>
            <a:pPr algn="ctr"/>
            <a:r>
              <a:rPr sz="800">
                <a:solidFill>
                  <a:srgbClr val="F0956A"/>
                </a:solidFill>
                <a:latin typeface="Pretendard"/>
              </a:rPr>
              <a:t>페이스 &amp; 바디</a:t>
            </a:r>
          </a:p>
        </p:txBody>
      </p:sp>
      <p:sp>
        <p:nvSpPr>
          <p:cNvPr id="15" name="TextBox 14"/>
          <p:cNvSpPr txBox="1"/>
          <p:nvPr/>
        </p:nvSpPr>
        <p:spPr>
          <a:xfrm>
            <a:off x="720000" y="9972000"/>
            <a:ext cx="6120000" cy="252000"/>
          </a:xfrm>
          <a:prstGeom prst="rect">
            <a:avLst/>
          </a:prstGeom>
          <a:noFill/>
        </p:spPr>
        <p:txBody>
          <a:bodyPr wrap="square" lIns="72000" tIns="54000" rIns="72000" bIns="54000">
            <a:spAutoFit/>
          </a:bodyPr>
          <a:lstStyle/>
          <a:p>
            <a:pPr algn="ctr"/>
            <a:r>
              <a:rPr sz="700" b="0">
                <a:solidFill>
                  <a:srgbClr val="554438"/>
                </a:solidFill>
                <a:latin typeface="Bernhard Modern"/>
              </a:rPr>
              <a:t>OBLIV CLINIC · DERMAWAVE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6000" cy="1069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162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80000" y="-360000"/>
            <a:ext cx="936000" cy="936000"/>
          </a:xfrm>
          <a:prstGeom prst="ellipse">
            <a:avLst/>
          </a:prstGeom>
          <a:solidFill>
            <a:srgbClr val="D06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00" y="288000"/>
            <a:ext cx="6408000" cy="252000"/>
          </a:xfrm>
          <a:prstGeom prst="rect">
            <a:avLst/>
          </a:prstGeom>
          <a:noFill/>
        </p:spPr>
        <p:txBody>
          <a:bodyPr wrap="square" lIns="72000" tIns="54000" rIns="72000" bIns="54000">
            <a:spAutoFit/>
          </a:bodyPr>
          <a:lstStyle/>
          <a:p>
            <a:pPr algn="l"/>
            <a:r>
              <a:rPr sz="800" b="0">
                <a:solidFill>
                  <a:srgbClr val="F0956A"/>
                </a:solidFill>
                <a:latin typeface="Bernhard Modern"/>
              </a:rPr>
              <a:t>OVERVIEW</a:t>
            </a:r>
          </a:p>
        </p:txBody>
      </p:sp>
      <p:sp>
        <p:nvSpPr>
          <p:cNvPr id="6" name="TextBox 5"/>
          <p:cNvSpPr txBox="1"/>
          <p:nvPr/>
        </p:nvSpPr>
        <p:spPr>
          <a:xfrm>
            <a:off x="576000" y="612000"/>
            <a:ext cx="6408000" cy="468000"/>
          </a:xfrm>
          <a:prstGeom prst="rect">
            <a:avLst/>
          </a:prstGeom>
          <a:noFill/>
        </p:spPr>
        <p:txBody>
          <a:bodyPr wrap="square" lIns="72000" tIns="54000" rIns="72000" bIns="54000">
            <a:spAutoFit/>
          </a:bodyPr>
          <a:lstStyle/>
          <a:p>
            <a:pPr algn="l"/>
            <a:r>
              <a:rPr sz="1800" b="1">
                <a:solidFill>
                  <a:srgbClr val="FFFFFF"/>
                </a:solidFill>
                <a:latin typeface="Pretendard"/>
              </a:rPr>
              <a:t>더마웨이브란?</a:t>
            </a:r>
          </a:p>
        </p:txBody>
      </p:sp>
      <p:sp>
        <p:nvSpPr>
          <p:cNvPr id="7" name="TextBox 6"/>
          <p:cNvSpPr txBox="1"/>
          <p:nvPr/>
        </p:nvSpPr>
        <p:spPr>
          <a:xfrm>
            <a:off x="576000" y="1152000"/>
            <a:ext cx="6408000" cy="360000"/>
          </a:xfrm>
          <a:prstGeom prst="rect">
            <a:avLst/>
          </a:prstGeom>
          <a:noFill/>
        </p:spPr>
        <p:txBody>
          <a:bodyPr wrap="square" lIns="72000" tIns="54000" rIns="72000" bIns="54000">
            <a:spAutoFit/>
          </a:bodyPr>
          <a:lstStyle/>
          <a:p>
            <a:pPr algn="l"/>
            <a:r>
              <a:rPr sz="800" b="0">
                <a:solidFill>
                  <a:srgbClr val="CCCCCC"/>
                </a:solidFill>
                <a:latin typeface="Pretendard"/>
              </a:rPr>
              <a:t>고주파·저주파 복합 에너지와 그라스톤 괄사를 결합한 근막 리모델링 솔루션</a:t>
            </a:r>
          </a:p>
        </p:txBody>
      </p:sp>
      <p:sp>
        <p:nvSpPr>
          <p:cNvPr id="8" name="Rectangle 7"/>
          <p:cNvSpPr/>
          <p:nvPr/>
        </p:nvSpPr>
        <p:spPr>
          <a:xfrm>
            <a:off x="576000" y="10188000"/>
            <a:ext cx="6408000" cy="144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10224000"/>
            <a:ext cx="1800000" cy="252000"/>
          </a:xfrm>
          <a:prstGeom prst="rect">
            <a:avLst/>
          </a:prstGeom>
          <a:noFill/>
        </p:spPr>
        <p:txBody>
          <a:bodyPr wrap="square" lIns="72000" tIns="54000" rIns="72000" bIns="54000">
            <a:spAutoFit/>
          </a:bodyPr>
          <a:lstStyle/>
          <a:p>
            <a:pPr algn="l"/>
            <a:r>
              <a:rPr sz="700" b="0">
                <a:solidFill>
                  <a:srgbClr val="CCCCCC"/>
                </a:solidFill>
                <a:latin typeface="Pretendard"/>
              </a:rPr>
              <a:t>오블리브의원</a:t>
            </a:r>
          </a:p>
        </p:txBody>
      </p:sp>
      <p:sp>
        <p:nvSpPr>
          <p:cNvPr id="10" name="TextBox 9"/>
          <p:cNvSpPr txBox="1"/>
          <p:nvPr/>
        </p:nvSpPr>
        <p:spPr>
          <a:xfrm>
            <a:off x="2736000" y="10224000"/>
            <a:ext cx="2448000" cy="252000"/>
          </a:xfrm>
          <a:prstGeom prst="rect">
            <a:avLst/>
          </a:prstGeom>
          <a:noFill/>
        </p:spPr>
        <p:txBody>
          <a:bodyPr wrap="square" lIns="72000" tIns="54000" rIns="72000" bIns="54000">
            <a:spAutoFit/>
          </a:bodyPr>
          <a:lstStyle/>
          <a:p>
            <a:pPr algn="ctr"/>
            <a:r>
              <a:rPr sz="700" b="0">
                <a:solidFill>
                  <a:srgbClr val="CCCCCC"/>
                </a:solidFill>
                <a:latin typeface="Bernhard Modern"/>
              </a:rPr>
              <a:t>OBLIV CLINIC · DERMAWAVE</a:t>
            </a:r>
          </a:p>
        </p:txBody>
      </p:sp>
      <p:sp>
        <p:nvSpPr>
          <p:cNvPr id="11" name="Rectangle 10"/>
          <p:cNvSpPr/>
          <p:nvPr/>
        </p:nvSpPr>
        <p:spPr>
          <a:xfrm>
            <a:off x="25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000" y="10224000"/>
            <a:ext cx="1008000" cy="252000"/>
          </a:xfrm>
          <a:prstGeom prst="rect">
            <a:avLst/>
          </a:prstGeom>
          <a:noFill/>
        </p:spPr>
        <p:txBody>
          <a:bodyPr wrap="square" lIns="72000" tIns="54000" rIns="72000" bIns="54000">
            <a:spAutoFit/>
          </a:bodyPr>
          <a:lstStyle/>
          <a:p>
            <a:pPr algn="r"/>
            <a:r>
              <a:rPr sz="700" b="0">
                <a:solidFill>
                  <a:srgbClr val="CCCCCC"/>
                </a:solidFill>
                <a:latin typeface="Bernhard Modern"/>
              </a:rPr>
              <a:t>01</a:t>
            </a:r>
          </a:p>
        </p:txBody>
      </p:sp>
      <p:sp>
        <p:nvSpPr>
          <p:cNvPr id="14" name="Rectangle 13"/>
          <p:cNvSpPr/>
          <p:nvPr/>
        </p:nvSpPr>
        <p:spPr>
          <a:xfrm>
            <a:off x="180000" y="1836000"/>
            <a:ext cx="7200000" cy="144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00" y="1944000"/>
            <a:ext cx="6984000" cy="324000"/>
          </a:xfrm>
          <a:prstGeom prst="rect">
            <a:avLst/>
          </a:prstGeom>
          <a:noFill/>
        </p:spPr>
        <p:txBody>
          <a:bodyPr wrap="square" lIns="72000" tIns="54000" rIns="72000" bIns="54000">
            <a:spAutoFit/>
          </a:bodyPr>
          <a:lstStyle/>
          <a:p>
            <a:pPr algn="l"/>
            <a:r>
              <a:rPr sz="1200" b="0">
                <a:solidFill>
                  <a:srgbClr val="FFFFFF"/>
                </a:solidFill>
                <a:latin typeface="Bernhard Modern"/>
              </a:rPr>
              <a:t>TUPS HL Frequency Dermawave</a:t>
            </a:r>
          </a:p>
        </p:txBody>
      </p:sp>
      <p:sp>
        <p:nvSpPr>
          <p:cNvPr id="16" name="TextBox 15"/>
          <p:cNvSpPr txBox="1"/>
          <p:nvPr/>
        </p:nvSpPr>
        <p:spPr>
          <a:xfrm>
            <a:off x="288000" y="2304000"/>
            <a:ext cx="6984000" cy="900000"/>
          </a:xfrm>
          <a:prstGeom prst="rect">
            <a:avLst/>
          </a:prstGeom>
          <a:noFill/>
        </p:spPr>
        <p:txBody>
          <a:bodyPr wrap="square" lIns="72000" tIns="54000" rIns="72000" bIns="54000">
            <a:spAutoFit/>
          </a:bodyPr>
          <a:lstStyle/>
          <a:p>
            <a:pPr algn="l"/>
            <a:r>
              <a:rPr sz="850" b="0">
                <a:solidFill>
                  <a:srgbClr val="EEDDD0"/>
                </a:solidFill>
                <a:latin typeface="Pretendard"/>
              </a:rPr>
              <a:t>RF 고주파 심부열과 중저주파 전기 자극을 이용하여 피부와 전신을 관리하는 복합 솔루션입니다. 괄사 도구를 이용해 근막을 리모델링하고 고주파·저주파 에너지로 세포 활성화를 촉진시켜 얼굴과 바디의 탄력을 근원적으로 개선합니다. 마취 없이 통증과 부작용이 매우 적어 누구나 편안하게 받을 수 있습니다.</a:t>
            </a:r>
          </a:p>
        </p:txBody>
      </p:sp>
      <p:sp>
        <p:nvSpPr>
          <p:cNvPr id="17" name="TextBox 16"/>
          <p:cNvSpPr txBox="1"/>
          <p:nvPr/>
        </p:nvSpPr>
        <p:spPr>
          <a:xfrm>
            <a:off x="180000" y="3456000"/>
            <a:ext cx="3600000" cy="288000"/>
          </a:xfrm>
          <a:prstGeom prst="rect">
            <a:avLst/>
          </a:prstGeom>
          <a:noFill/>
        </p:spPr>
        <p:txBody>
          <a:bodyPr wrap="square" lIns="72000" tIns="54000" rIns="72000" bIns="54000">
            <a:spAutoFit/>
          </a:bodyPr>
          <a:lstStyle/>
          <a:p>
            <a:pPr algn="l"/>
            <a:r>
              <a:rPr sz="1200" b="1">
                <a:solidFill>
                  <a:srgbClr val="5C3317"/>
                </a:solidFill>
                <a:latin typeface="Pretendard"/>
              </a:rPr>
              <a:t>핵심 특장점</a:t>
            </a:r>
          </a:p>
        </p:txBody>
      </p:sp>
      <p:sp>
        <p:nvSpPr>
          <p:cNvPr id="18" name="Rectangle 17"/>
          <p:cNvSpPr/>
          <p:nvPr/>
        </p:nvSpPr>
        <p:spPr>
          <a:xfrm>
            <a:off x="180000" y="3744000"/>
            <a:ext cx="1800000" cy="216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0000" y="3888000"/>
            <a:ext cx="3456000" cy="244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0000" y="3888000"/>
            <a:ext cx="3456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8000" y="4068000"/>
            <a:ext cx="3240000" cy="324000"/>
          </a:xfrm>
          <a:prstGeom prst="rect">
            <a:avLst/>
          </a:prstGeom>
          <a:noFill/>
        </p:spPr>
        <p:txBody>
          <a:bodyPr wrap="square" lIns="72000" tIns="54000" rIns="72000" bIns="54000">
            <a:spAutoFit/>
          </a:bodyPr>
          <a:lstStyle/>
          <a:p>
            <a:pPr algn="l"/>
            <a:r>
              <a:rPr sz="950" b="1">
                <a:solidFill>
                  <a:srgbClr val="C45A1A"/>
                </a:solidFill>
                <a:latin typeface="Pretendard"/>
              </a:rPr>
              <a:t>피부 근원 케어</a:t>
            </a:r>
          </a:p>
        </p:txBody>
      </p:sp>
      <p:sp>
        <p:nvSpPr>
          <p:cNvPr id="22" name="Rectangle 21"/>
          <p:cNvSpPr/>
          <p:nvPr/>
        </p:nvSpPr>
        <p:spPr>
          <a:xfrm>
            <a:off x="288000" y="4428000"/>
            <a:ext cx="1080000" cy="14400"/>
          </a:xfrm>
          <a:prstGeom prst="rect">
            <a:avLst/>
          </a:prstGeom>
          <a:solidFill>
            <a:srgbClr val="D9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8000" y="4572000"/>
            <a:ext cx="3240000" cy="1656000"/>
          </a:xfrm>
          <a:prstGeom prst="rect">
            <a:avLst/>
          </a:prstGeom>
          <a:noFill/>
        </p:spPr>
        <p:txBody>
          <a:bodyPr wrap="square" lIns="72000" tIns="54000" rIns="72000" bIns="54000">
            <a:spAutoFit/>
          </a:bodyPr>
          <a:lstStyle/>
          <a:p>
            <a:pPr algn="l"/>
            <a:r>
              <a:rPr sz="800" b="0">
                <a:solidFill>
                  <a:srgbClr val="666666"/>
                </a:solidFill>
                <a:latin typeface="Pretendard"/>
              </a:rPr>
              <a:t>피부 세포 활성화 및 근막 리모델링으로 페이스·바디 문제의 근원부터 해결하여 몸의 밸런스를 되찾고 시술 효과를 장기간 유지합니다.</a:t>
            </a:r>
          </a:p>
        </p:txBody>
      </p:sp>
      <p:sp>
        <p:nvSpPr>
          <p:cNvPr id="24" name="Rectangle 23"/>
          <p:cNvSpPr/>
          <p:nvPr/>
        </p:nvSpPr>
        <p:spPr>
          <a:xfrm>
            <a:off x="3888000" y="3888000"/>
            <a:ext cx="3456000" cy="244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888000" y="3888000"/>
            <a:ext cx="3456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96000" y="4068000"/>
            <a:ext cx="3240000" cy="324000"/>
          </a:xfrm>
          <a:prstGeom prst="rect">
            <a:avLst/>
          </a:prstGeom>
          <a:noFill/>
        </p:spPr>
        <p:txBody>
          <a:bodyPr wrap="square" lIns="72000" tIns="54000" rIns="72000" bIns="54000">
            <a:spAutoFit/>
          </a:bodyPr>
          <a:lstStyle/>
          <a:p>
            <a:pPr algn="l"/>
            <a:r>
              <a:rPr sz="950" b="1">
                <a:solidFill>
                  <a:srgbClr val="C45A1A"/>
                </a:solidFill>
                <a:latin typeface="Pretendard"/>
              </a:rPr>
              <a:t>스마트 복합 테라피</a:t>
            </a:r>
          </a:p>
        </p:txBody>
      </p:sp>
      <p:sp>
        <p:nvSpPr>
          <p:cNvPr id="27" name="Rectangle 26"/>
          <p:cNvSpPr/>
          <p:nvPr/>
        </p:nvSpPr>
        <p:spPr>
          <a:xfrm>
            <a:off x="3996000" y="4428000"/>
            <a:ext cx="1080000" cy="14400"/>
          </a:xfrm>
          <a:prstGeom prst="rect">
            <a:avLst/>
          </a:prstGeom>
          <a:solidFill>
            <a:srgbClr val="D9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96000" y="4572000"/>
            <a:ext cx="3240000" cy="1656000"/>
          </a:xfrm>
          <a:prstGeom prst="rect">
            <a:avLst/>
          </a:prstGeom>
          <a:noFill/>
        </p:spPr>
        <p:txBody>
          <a:bodyPr wrap="square" lIns="72000" tIns="54000" rIns="72000" bIns="54000">
            <a:spAutoFit/>
          </a:bodyPr>
          <a:lstStyle/>
          <a:p>
            <a:pPr algn="l"/>
            <a:r>
              <a:rPr sz="800" b="0">
                <a:solidFill>
                  <a:srgbClr val="666666"/>
                </a:solidFill>
                <a:latin typeface="Pretendard"/>
              </a:rPr>
              <a:t>RET RF 주파 &amp; 괄사와 LF 주파 &amp; 글러브 전극을 동시에 사용하여 짧은 시간 안에 최대 관리 효율을 달성합니다.</a:t>
            </a:r>
          </a:p>
        </p:txBody>
      </p:sp>
      <p:sp>
        <p:nvSpPr>
          <p:cNvPr id="29" name="Rectangle 28"/>
          <p:cNvSpPr/>
          <p:nvPr/>
        </p:nvSpPr>
        <p:spPr>
          <a:xfrm>
            <a:off x="180000" y="6588000"/>
            <a:ext cx="3456000" cy="244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0000" y="6588000"/>
            <a:ext cx="3456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8000" y="6768000"/>
            <a:ext cx="3240000" cy="324000"/>
          </a:xfrm>
          <a:prstGeom prst="rect">
            <a:avLst/>
          </a:prstGeom>
          <a:noFill/>
        </p:spPr>
        <p:txBody>
          <a:bodyPr wrap="square" lIns="72000" tIns="54000" rIns="72000" bIns="54000">
            <a:spAutoFit/>
          </a:bodyPr>
          <a:lstStyle/>
          <a:p>
            <a:pPr algn="l"/>
            <a:r>
              <a:rPr sz="950" b="1">
                <a:solidFill>
                  <a:srgbClr val="C45A1A"/>
                </a:solidFill>
                <a:latin typeface="Pretendard"/>
              </a:rPr>
              <a:t>100% 비침습 시술</a:t>
            </a:r>
          </a:p>
        </p:txBody>
      </p:sp>
      <p:sp>
        <p:nvSpPr>
          <p:cNvPr id="32" name="Rectangle 31"/>
          <p:cNvSpPr/>
          <p:nvPr/>
        </p:nvSpPr>
        <p:spPr>
          <a:xfrm>
            <a:off x="288000" y="7128000"/>
            <a:ext cx="1080000" cy="14400"/>
          </a:xfrm>
          <a:prstGeom prst="rect">
            <a:avLst/>
          </a:prstGeom>
          <a:solidFill>
            <a:srgbClr val="D9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8000" y="7272000"/>
            <a:ext cx="3240000" cy="1656000"/>
          </a:xfrm>
          <a:prstGeom prst="rect">
            <a:avLst/>
          </a:prstGeom>
          <a:noFill/>
        </p:spPr>
        <p:txBody>
          <a:bodyPr wrap="square" lIns="72000" tIns="54000" rIns="72000" bIns="54000">
            <a:spAutoFit/>
          </a:bodyPr>
          <a:lstStyle/>
          <a:p>
            <a:pPr algn="l"/>
            <a:r>
              <a:rPr sz="800" b="0">
                <a:solidFill>
                  <a:srgbClr val="666666"/>
                </a:solidFill>
                <a:latin typeface="Pretendard"/>
              </a:rPr>
              <a:t>마취·통증 없이 진피층까지 에너지를 전달하여 탄력 개선, 리프팅, 셀룰라이트 분해, 통증 완화 효과를 제공합니다.</a:t>
            </a:r>
          </a:p>
        </p:txBody>
      </p:sp>
      <p:sp>
        <p:nvSpPr>
          <p:cNvPr id="34" name="Rectangle 33"/>
          <p:cNvSpPr/>
          <p:nvPr/>
        </p:nvSpPr>
        <p:spPr>
          <a:xfrm>
            <a:off x="3888000" y="6588000"/>
            <a:ext cx="3456000" cy="244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88000" y="6588000"/>
            <a:ext cx="3456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96000" y="6768000"/>
            <a:ext cx="3240000" cy="324000"/>
          </a:xfrm>
          <a:prstGeom prst="rect">
            <a:avLst/>
          </a:prstGeom>
          <a:noFill/>
        </p:spPr>
        <p:txBody>
          <a:bodyPr wrap="square" lIns="72000" tIns="54000" rIns="72000" bIns="54000">
            <a:spAutoFit/>
          </a:bodyPr>
          <a:lstStyle/>
          <a:p>
            <a:pPr algn="l"/>
            <a:r>
              <a:rPr sz="950" b="1">
                <a:solidFill>
                  <a:srgbClr val="C45A1A"/>
                </a:solidFill>
                <a:latin typeface="Pretendard"/>
              </a:rPr>
              <a:t>신뢰성 높은 기기</a:t>
            </a:r>
          </a:p>
        </p:txBody>
      </p:sp>
      <p:sp>
        <p:nvSpPr>
          <p:cNvPr id="37" name="Rectangle 36"/>
          <p:cNvSpPr/>
          <p:nvPr/>
        </p:nvSpPr>
        <p:spPr>
          <a:xfrm>
            <a:off x="3996000" y="7128000"/>
            <a:ext cx="1080000" cy="14400"/>
          </a:xfrm>
          <a:prstGeom prst="rect">
            <a:avLst/>
          </a:prstGeom>
          <a:solidFill>
            <a:srgbClr val="D97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996000" y="7272000"/>
            <a:ext cx="3240000" cy="1656000"/>
          </a:xfrm>
          <a:prstGeom prst="rect">
            <a:avLst/>
          </a:prstGeom>
          <a:noFill/>
        </p:spPr>
        <p:txBody>
          <a:bodyPr wrap="square" lIns="72000" tIns="54000" rIns="72000" bIns="54000">
            <a:spAutoFit/>
          </a:bodyPr>
          <a:lstStyle/>
          <a:p>
            <a:pPr algn="l"/>
            <a:r>
              <a:rPr sz="800" b="0">
                <a:solidFill>
                  <a:srgbClr val="666666"/>
                </a:solidFill>
                <a:latin typeface="Pretendard"/>
              </a:rPr>
              <a:t>국내 의료기기 제조사 생산, KC 안전인증 완료. 의료기기와 동일한 사양으로 기기 안정성 및 안전성을 확보하였습니다.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6000" cy="1069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162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80000" y="-360000"/>
            <a:ext cx="936000" cy="936000"/>
          </a:xfrm>
          <a:prstGeom prst="ellipse">
            <a:avLst/>
          </a:prstGeom>
          <a:solidFill>
            <a:srgbClr val="D06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00" y="288000"/>
            <a:ext cx="6408000" cy="252000"/>
          </a:xfrm>
          <a:prstGeom prst="rect">
            <a:avLst/>
          </a:prstGeom>
          <a:noFill/>
        </p:spPr>
        <p:txBody>
          <a:bodyPr wrap="square" lIns="72000" tIns="54000" rIns="72000" bIns="54000">
            <a:spAutoFit/>
          </a:bodyPr>
          <a:lstStyle/>
          <a:p>
            <a:pPr algn="l"/>
            <a:r>
              <a:rPr sz="800" b="0">
                <a:solidFill>
                  <a:srgbClr val="F0956A"/>
                </a:solidFill>
                <a:latin typeface="Bernhard Modern"/>
              </a:rPr>
              <a:t>MECHANISM</a:t>
            </a:r>
          </a:p>
        </p:txBody>
      </p:sp>
      <p:sp>
        <p:nvSpPr>
          <p:cNvPr id="6" name="TextBox 5"/>
          <p:cNvSpPr txBox="1"/>
          <p:nvPr/>
        </p:nvSpPr>
        <p:spPr>
          <a:xfrm>
            <a:off x="576000" y="612000"/>
            <a:ext cx="6408000" cy="468000"/>
          </a:xfrm>
          <a:prstGeom prst="rect">
            <a:avLst/>
          </a:prstGeom>
          <a:noFill/>
        </p:spPr>
        <p:txBody>
          <a:bodyPr wrap="square" lIns="72000" tIns="54000" rIns="72000" bIns="54000">
            <a:spAutoFit/>
          </a:bodyPr>
          <a:lstStyle/>
          <a:p>
            <a:pPr algn="l"/>
            <a:r>
              <a:rPr sz="1800" b="1">
                <a:solidFill>
                  <a:srgbClr val="FFFFFF"/>
                </a:solidFill>
                <a:latin typeface="Pretendard"/>
              </a:rPr>
              <a:t>시술 원리</a:t>
            </a:r>
          </a:p>
        </p:txBody>
      </p:sp>
      <p:sp>
        <p:nvSpPr>
          <p:cNvPr id="7" name="TextBox 6"/>
          <p:cNvSpPr txBox="1"/>
          <p:nvPr/>
        </p:nvSpPr>
        <p:spPr>
          <a:xfrm>
            <a:off x="576000" y="1152000"/>
            <a:ext cx="6408000" cy="360000"/>
          </a:xfrm>
          <a:prstGeom prst="rect">
            <a:avLst/>
          </a:prstGeom>
          <a:noFill/>
        </p:spPr>
        <p:txBody>
          <a:bodyPr wrap="square" lIns="72000" tIns="54000" rIns="72000" bIns="54000">
            <a:spAutoFit/>
          </a:bodyPr>
          <a:lstStyle/>
          <a:p>
            <a:pPr algn="l"/>
            <a:r>
              <a:rPr sz="800" b="0">
                <a:solidFill>
                  <a:srgbClr val="CCCCCC"/>
                </a:solidFill>
                <a:latin typeface="Pretendard"/>
              </a:rPr>
              <a:t>고주파(RF) + 저주파(LF) + 그라스톤 괄사의 3중 복합 작용</a:t>
            </a:r>
          </a:p>
        </p:txBody>
      </p:sp>
      <p:sp>
        <p:nvSpPr>
          <p:cNvPr id="8" name="Rectangle 7"/>
          <p:cNvSpPr/>
          <p:nvPr/>
        </p:nvSpPr>
        <p:spPr>
          <a:xfrm>
            <a:off x="576000" y="10188000"/>
            <a:ext cx="6408000" cy="144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10224000"/>
            <a:ext cx="1800000" cy="252000"/>
          </a:xfrm>
          <a:prstGeom prst="rect">
            <a:avLst/>
          </a:prstGeom>
          <a:noFill/>
        </p:spPr>
        <p:txBody>
          <a:bodyPr wrap="square" lIns="72000" tIns="54000" rIns="72000" bIns="54000">
            <a:spAutoFit/>
          </a:bodyPr>
          <a:lstStyle/>
          <a:p>
            <a:pPr algn="l"/>
            <a:r>
              <a:rPr sz="700" b="0">
                <a:solidFill>
                  <a:srgbClr val="CCCCCC"/>
                </a:solidFill>
                <a:latin typeface="Pretendard"/>
              </a:rPr>
              <a:t>오블리브의원</a:t>
            </a:r>
          </a:p>
        </p:txBody>
      </p:sp>
      <p:sp>
        <p:nvSpPr>
          <p:cNvPr id="10" name="TextBox 9"/>
          <p:cNvSpPr txBox="1"/>
          <p:nvPr/>
        </p:nvSpPr>
        <p:spPr>
          <a:xfrm>
            <a:off x="2736000" y="10224000"/>
            <a:ext cx="2448000" cy="252000"/>
          </a:xfrm>
          <a:prstGeom prst="rect">
            <a:avLst/>
          </a:prstGeom>
          <a:noFill/>
        </p:spPr>
        <p:txBody>
          <a:bodyPr wrap="square" lIns="72000" tIns="54000" rIns="72000" bIns="54000">
            <a:spAutoFit/>
          </a:bodyPr>
          <a:lstStyle/>
          <a:p>
            <a:pPr algn="ctr"/>
            <a:r>
              <a:rPr sz="700" b="0">
                <a:solidFill>
                  <a:srgbClr val="CCCCCC"/>
                </a:solidFill>
                <a:latin typeface="Bernhard Modern"/>
              </a:rPr>
              <a:t>OBLIV CLINIC · DERMAWAVE</a:t>
            </a:r>
          </a:p>
        </p:txBody>
      </p:sp>
      <p:sp>
        <p:nvSpPr>
          <p:cNvPr id="11" name="Rectangle 10"/>
          <p:cNvSpPr/>
          <p:nvPr/>
        </p:nvSpPr>
        <p:spPr>
          <a:xfrm>
            <a:off x="25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000" y="10224000"/>
            <a:ext cx="1008000" cy="252000"/>
          </a:xfrm>
          <a:prstGeom prst="rect">
            <a:avLst/>
          </a:prstGeom>
          <a:noFill/>
        </p:spPr>
        <p:txBody>
          <a:bodyPr wrap="square" lIns="72000" tIns="54000" rIns="72000" bIns="54000">
            <a:spAutoFit/>
          </a:bodyPr>
          <a:lstStyle/>
          <a:p>
            <a:pPr algn="r"/>
            <a:r>
              <a:rPr sz="700" b="0">
                <a:solidFill>
                  <a:srgbClr val="CCCCCC"/>
                </a:solidFill>
                <a:latin typeface="Bernhard Modern"/>
              </a:rPr>
              <a:t>02</a:t>
            </a:r>
          </a:p>
        </p:txBody>
      </p:sp>
      <p:sp>
        <p:nvSpPr>
          <p:cNvPr id="14" name="Rectangle 13"/>
          <p:cNvSpPr/>
          <p:nvPr/>
        </p:nvSpPr>
        <p:spPr>
          <a:xfrm>
            <a:off x="180000" y="1836000"/>
            <a:ext cx="2268000" cy="1980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0000" y="1836000"/>
            <a:ext cx="2268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8000" y="2016000"/>
            <a:ext cx="2052000" cy="324000"/>
          </a:xfrm>
          <a:prstGeom prst="rect">
            <a:avLst/>
          </a:prstGeom>
          <a:noFill/>
        </p:spPr>
        <p:txBody>
          <a:bodyPr wrap="square" lIns="72000" tIns="54000" rIns="72000" bIns="54000">
            <a:spAutoFit/>
          </a:bodyPr>
          <a:lstStyle/>
          <a:p>
            <a:pPr algn="l"/>
            <a:r>
              <a:rPr sz="900" b="1">
                <a:solidFill>
                  <a:srgbClr val="C45A1A"/>
                </a:solidFill>
                <a:latin typeface="Pretendard"/>
              </a:rPr>
              <a:t>RF 고주파 (모노폴라)</a:t>
            </a:r>
          </a:p>
        </p:txBody>
      </p:sp>
      <p:sp>
        <p:nvSpPr>
          <p:cNvPr id="17" name="TextBox 16"/>
          <p:cNvSpPr txBox="1"/>
          <p:nvPr/>
        </p:nvSpPr>
        <p:spPr>
          <a:xfrm>
            <a:off x="288000" y="2412000"/>
            <a:ext cx="2052000" cy="1296000"/>
          </a:xfrm>
          <a:prstGeom prst="rect">
            <a:avLst/>
          </a:prstGeom>
          <a:noFill/>
        </p:spPr>
        <p:txBody>
          <a:bodyPr wrap="square" lIns="72000" tIns="54000" rIns="72000" bIns="54000">
            <a:spAutoFit/>
          </a:bodyPr>
          <a:lstStyle/>
          <a:p>
            <a:pPr algn="l"/>
            <a:r>
              <a:rPr sz="800" b="0">
                <a:solidFill>
                  <a:srgbClr val="666666"/>
                </a:solidFill>
                <a:latin typeface="Pretendard"/>
              </a:rPr>
              <a:t>2~9 MHz 심부열 에너지로 진피층·SMAS층에 도달하여 콜라겐·엘라스틴 재생을 촉진합니다.</a:t>
            </a:r>
          </a:p>
        </p:txBody>
      </p:sp>
      <p:sp>
        <p:nvSpPr>
          <p:cNvPr id="18" name="Rectangle 17"/>
          <p:cNvSpPr/>
          <p:nvPr/>
        </p:nvSpPr>
        <p:spPr>
          <a:xfrm>
            <a:off x="2592000" y="1836000"/>
            <a:ext cx="2268000" cy="1980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92000" y="1836000"/>
            <a:ext cx="2268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00000" y="2016000"/>
            <a:ext cx="2052000" cy="324000"/>
          </a:xfrm>
          <a:prstGeom prst="rect">
            <a:avLst/>
          </a:prstGeom>
          <a:noFill/>
        </p:spPr>
        <p:txBody>
          <a:bodyPr wrap="square" lIns="72000" tIns="54000" rIns="72000" bIns="54000">
            <a:spAutoFit/>
          </a:bodyPr>
          <a:lstStyle/>
          <a:p>
            <a:pPr algn="l"/>
            <a:r>
              <a:rPr sz="900" b="1">
                <a:solidFill>
                  <a:srgbClr val="C45A1A"/>
                </a:solidFill>
                <a:latin typeface="Pretendard"/>
              </a:rPr>
              <a:t>저주파 (LF) 전기 자극</a:t>
            </a:r>
          </a:p>
        </p:txBody>
      </p:sp>
      <p:sp>
        <p:nvSpPr>
          <p:cNvPr id="21" name="TextBox 20"/>
          <p:cNvSpPr txBox="1"/>
          <p:nvPr/>
        </p:nvSpPr>
        <p:spPr>
          <a:xfrm>
            <a:off x="2700000" y="2412000"/>
            <a:ext cx="2052000" cy="1296000"/>
          </a:xfrm>
          <a:prstGeom prst="rect">
            <a:avLst/>
          </a:prstGeom>
          <a:noFill/>
        </p:spPr>
        <p:txBody>
          <a:bodyPr wrap="square" lIns="72000" tIns="54000" rIns="72000" bIns="54000">
            <a:spAutoFit/>
          </a:bodyPr>
          <a:lstStyle/>
          <a:p>
            <a:pPr algn="l"/>
            <a:r>
              <a:rPr sz="800" b="0">
                <a:solidFill>
                  <a:srgbClr val="666666"/>
                </a:solidFill>
                <a:latin typeface="Pretendard"/>
              </a:rPr>
              <a:t>중저주파 전기 자극으로 근육을 선택적으로 수축시키고 신경·근막 기능을 활성화합니다.</a:t>
            </a:r>
          </a:p>
        </p:txBody>
      </p:sp>
      <p:sp>
        <p:nvSpPr>
          <p:cNvPr id="22" name="Rectangle 21"/>
          <p:cNvSpPr/>
          <p:nvPr/>
        </p:nvSpPr>
        <p:spPr>
          <a:xfrm>
            <a:off x="5004000" y="1836000"/>
            <a:ext cx="2268000" cy="1980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04000" y="1836000"/>
            <a:ext cx="2268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12000" y="2016000"/>
            <a:ext cx="2052000" cy="324000"/>
          </a:xfrm>
          <a:prstGeom prst="rect">
            <a:avLst/>
          </a:prstGeom>
          <a:noFill/>
        </p:spPr>
        <p:txBody>
          <a:bodyPr wrap="square" lIns="72000" tIns="54000" rIns="72000" bIns="54000">
            <a:spAutoFit/>
          </a:bodyPr>
          <a:lstStyle/>
          <a:p>
            <a:pPr algn="l"/>
            <a:r>
              <a:rPr sz="900" b="1">
                <a:solidFill>
                  <a:srgbClr val="C45A1A"/>
                </a:solidFill>
                <a:latin typeface="Pretendard"/>
              </a:rPr>
              <a:t>그라스톤 괄사 도구</a:t>
            </a:r>
          </a:p>
        </p:txBody>
      </p:sp>
      <p:sp>
        <p:nvSpPr>
          <p:cNvPr id="25" name="TextBox 24"/>
          <p:cNvSpPr txBox="1"/>
          <p:nvPr/>
        </p:nvSpPr>
        <p:spPr>
          <a:xfrm>
            <a:off x="5112000" y="2412000"/>
            <a:ext cx="2052000" cy="1296000"/>
          </a:xfrm>
          <a:prstGeom prst="rect">
            <a:avLst/>
          </a:prstGeom>
          <a:noFill/>
        </p:spPr>
        <p:txBody>
          <a:bodyPr wrap="square" lIns="72000" tIns="54000" rIns="72000" bIns="54000">
            <a:spAutoFit/>
          </a:bodyPr>
          <a:lstStyle/>
          <a:p>
            <a:pPr algn="l"/>
            <a:r>
              <a:rPr sz="800" b="0">
                <a:solidFill>
                  <a:srgbClr val="666666"/>
                </a:solidFill>
                <a:latin typeface="Pretendard"/>
              </a:rPr>
              <a:t>스테인리스 스틸 기구로 유착된 근막을 물리적으로 이완하여 조직 기능을 근원적으로 개선합니다.</a:t>
            </a:r>
          </a:p>
        </p:txBody>
      </p:sp>
      <p:sp>
        <p:nvSpPr>
          <p:cNvPr id="26" name="Rectangle 25"/>
          <p:cNvSpPr/>
          <p:nvPr/>
        </p:nvSpPr>
        <p:spPr>
          <a:xfrm>
            <a:off x="180000" y="4032000"/>
            <a:ext cx="7200000" cy="144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0000" y="4212000"/>
            <a:ext cx="3600000" cy="288000"/>
          </a:xfrm>
          <a:prstGeom prst="rect">
            <a:avLst/>
          </a:prstGeom>
          <a:noFill/>
        </p:spPr>
        <p:txBody>
          <a:bodyPr wrap="square" lIns="72000" tIns="54000" rIns="72000" bIns="54000">
            <a:spAutoFit/>
          </a:bodyPr>
          <a:lstStyle/>
          <a:p>
            <a:pPr algn="l"/>
            <a:r>
              <a:rPr sz="1200" b="1">
                <a:solidFill>
                  <a:srgbClr val="5C3317"/>
                </a:solidFill>
                <a:latin typeface="Pretendard"/>
              </a:rPr>
              <a:t>핸드피스 타입 안내</a:t>
            </a:r>
          </a:p>
        </p:txBody>
      </p:sp>
      <p:sp>
        <p:nvSpPr>
          <p:cNvPr id="28" name="Rectangle 27"/>
          <p:cNvSpPr/>
          <p:nvPr/>
        </p:nvSpPr>
        <p:spPr>
          <a:xfrm>
            <a:off x="180000" y="4500000"/>
            <a:ext cx="2340000" cy="216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0000" y="4680000"/>
            <a:ext cx="648000" cy="288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lIns="36000" tIns="36000" rIns="36000" bIns="36000"/>
          <a:lstStyle/>
          <a:p>
            <a:pPr algn="ctr"/>
            <a:r>
              <a:rPr sz="700" b="1">
                <a:solidFill>
                  <a:srgbClr val="FFFFFF"/>
                </a:solidFill>
                <a:latin typeface="Bernhard Modern"/>
              </a:rPr>
              <a:t>D2 TYPE</a:t>
            </a:r>
          </a:p>
        </p:txBody>
      </p:sp>
      <p:sp>
        <p:nvSpPr>
          <p:cNvPr id="30" name="TextBox 29"/>
          <p:cNvSpPr txBox="1"/>
          <p:nvPr/>
        </p:nvSpPr>
        <p:spPr>
          <a:xfrm>
            <a:off x="936000" y="4680000"/>
            <a:ext cx="6408000" cy="288000"/>
          </a:xfrm>
          <a:prstGeom prst="rect">
            <a:avLst/>
          </a:prstGeom>
          <a:noFill/>
        </p:spPr>
        <p:txBody>
          <a:bodyPr wrap="square" lIns="72000" tIns="54000" rIns="72000" bIns="54000">
            <a:spAutoFit/>
          </a:bodyPr>
          <a:lstStyle/>
          <a:p>
            <a:pPr algn="l"/>
            <a:r>
              <a:rPr sz="900" b="1">
                <a:solidFill>
                  <a:srgbClr val="5C3317"/>
                </a:solidFill>
                <a:latin typeface="Pretendard"/>
              </a:rPr>
              <a:t>물고기형 — 페이스·데콜테·손·발·다리</a:t>
            </a:r>
          </a:p>
        </p:txBody>
      </p:sp>
      <p:sp>
        <p:nvSpPr>
          <p:cNvPr id="31" name="TextBox 30"/>
          <p:cNvSpPr txBox="1"/>
          <p:nvPr/>
        </p:nvSpPr>
        <p:spPr>
          <a:xfrm>
            <a:off x="936000" y="5004000"/>
            <a:ext cx="6408000" cy="540000"/>
          </a:xfrm>
          <a:prstGeom prst="rect">
            <a:avLst/>
          </a:prstGeom>
          <a:noFill/>
        </p:spPr>
        <p:txBody>
          <a:bodyPr wrap="square" lIns="72000" tIns="54000" rIns="72000" bIns="54000">
            <a:spAutoFit/>
          </a:bodyPr>
          <a:lstStyle/>
          <a:p>
            <a:pPr algn="l"/>
            <a:r>
              <a:rPr sz="800" b="0">
                <a:solidFill>
                  <a:srgbClr val="666666"/>
                </a:solidFill>
                <a:latin typeface="Pretendard"/>
              </a:rPr>
              <a:t>얼굴 윤곽 정리, 부종 완화, 리프팅에 특화된 타입으로 섬세한 부위에 정확하게 적용합니다.</a:t>
            </a:r>
          </a:p>
        </p:txBody>
      </p:sp>
      <p:sp>
        <p:nvSpPr>
          <p:cNvPr id="32" name="Rectangle 31"/>
          <p:cNvSpPr/>
          <p:nvPr/>
        </p:nvSpPr>
        <p:spPr>
          <a:xfrm>
            <a:off x="180000" y="5652000"/>
            <a:ext cx="7200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80000" y="5760000"/>
            <a:ext cx="648000" cy="288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lIns="36000" tIns="36000" rIns="36000" bIns="36000"/>
          <a:lstStyle/>
          <a:p>
            <a:pPr algn="ctr"/>
            <a:r>
              <a:rPr sz="700" b="1">
                <a:solidFill>
                  <a:srgbClr val="FFFFFF"/>
                </a:solidFill>
                <a:latin typeface="Bernhard Modern"/>
              </a:rPr>
              <a:t>D3 TYPE</a:t>
            </a:r>
          </a:p>
        </p:txBody>
      </p:sp>
      <p:sp>
        <p:nvSpPr>
          <p:cNvPr id="34" name="TextBox 33"/>
          <p:cNvSpPr txBox="1"/>
          <p:nvPr/>
        </p:nvSpPr>
        <p:spPr>
          <a:xfrm>
            <a:off x="936000" y="5760000"/>
            <a:ext cx="6408000" cy="288000"/>
          </a:xfrm>
          <a:prstGeom prst="rect">
            <a:avLst/>
          </a:prstGeom>
          <a:noFill/>
        </p:spPr>
        <p:txBody>
          <a:bodyPr wrap="square" lIns="72000" tIns="54000" rIns="72000" bIns="54000">
            <a:spAutoFit/>
          </a:bodyPr>
          <a:lstStyle/>
          <a:p>
            <a:pPr algn="l"/>
            <a:r>
              <a:rPr sz="900" b="1">
                <a:solidFill>
                  <a:srgbClr val="5C3317"/>
                </a:solidFill>
                <a:latin typeface="Pretendard"/>
              </a:rPr>
              <a:t>반달형 — 승모근·어깨·팔·복부·다리</a:t>
            </a:r>
          </a:p>
        </p:txBody>
      </p:sp>
      <p:sp>
        <p:nvSpPr>
          <p:cNvPr id="35" name="TextBox 34"/>
          <p:cNvSpPr txBox="1"/>
          <p:nvPr/>
        </p:nvSpPr>
        <p:spPr>
          <a:xfrm>
            <a:off x="936000" y="6084000"/>
            <a:ext cx="6408000" cy="540000"/>
          </a:xfrm>
          <a:prstGeom prst="rect">
            <a:avLst/>
          </a:prstGeom>
          <a:noFill/>
        </p:spPr>
        <p:txBody>
          <a:bodyPr wrap="square" lIns="72000" tIns="54000" rIns="72000" bIns="54000">
            <a:spAutoFit/>
          </a:bodyPr>
          <a:lstStyle/>
          <a:p>
            <a:pPr algn="l"/>
            <a:r>
              <a:rPr sz="800" b="0">
                <a:solidFill>
                  <a:srgbClr val="666666"/>
                </a:solidFill>
                <a:latin typeface="Pretendard"/>
              </a:rPr>
              <a:t>슬리밍 및 림프 순환, 근막 이완에 최적화된 타입으로 중간 크기 부위를 효과적으로 커버합니다.</a:t>
            </a:r>
          </a:p>
        </p:txBody>
      </p:sp>
      <p:sp>
        <p:nvSpPr>
          <p:cNvPr id="36" name="Rectangle 35"/>
          <p:cNvSpPr/>
          <p:nvPr/>
        </p:nvSpPr>
        <p:spPr>
          <a:xfrm>
            <a:off x="180000" y="6732000"/>
            <a:ext cx="7200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0000" y="6840000"/>
            <a:ext cx="648000" cy="288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lIns="36000" tIns="36000" rIns="36000" bIns="36000"/>
          <a:lstStyle/>
          <a:p>
            <a:pPr algn="ctr"/>
            <a:r>
              <a:rPr sz="700" b="1">
                <a:solidFill>
                  <a:srgbClr val="FFFFFF"/>
                </a:solidFill>
                <a:latin typeface="Bernhard Modern"/>
              </a:rPr>
              <a:t>D4 TYPE</a:t>
            </a:r>
          </a:p>
        </p:txBody>
      </p:sp>
      <p:sp>
        <p:nvSpPr>
          <p:cNvPr id="38" name="TextBox 37"/>
          <p:cNvSpPr txBox="1"/>
          <p:nvPr/>
        </p:nvSpPr>
        <p:spPr>
          <a:xfrm>
            <a:off x="936000" y="6840000"/>
            <a:ext cx="6408000" cy="288000"/>
          </a:xfrm>
          <a:prstGeom prst="rect">
            <a:avLst/>
          </a:prstGeom>
          <a:noFill/>
        </p:spPr>
        <p:txBody>
          <a:bodyPr wrap="square" lIns="72000" tIns="54000" rIns="72000" bIns="54000">
            <a:spAutoFit/>
          </a:bodyPr>
          <a:lstStyle/>
          <a:p>
            <a:pPr algn="l"/>
            <a:r>
              <a:rPr sz="900" b="1">
                <a:solidFill>
                  <a:srgbClr val="5C3317"/>
                </a:solidFill>
                <a:latin typeface="Pretendard"/>
              </a:rPr>
              <a:t>뱀부형 — 승모근·등·옆구리·어깨·다리</a:t>
            </a:r>
          </a:p>
        </p:txBody>
      </p:sp>
      <p:sp>
        <p:nvSpPr>
          <p:cNvPr id="39" name="TextBox 38"/>
          <p:cNvSpPr txBox="1"/>
          <p:nvPr/>
        </p:nvSpPr>
        <p:spPr>
          <a:xfrm>
            <a:off x="936000" y="7164000"/>
            <a:ext cx="6408000" cy="540000"/>
          </a:xfrm>
          <a:prstGeom prst="rect">
            <a:avLst/>
          </a:prstGeom>
          <a:noFill/>
        </p:spPr>
        <p:txBody>
          <a:bodyPr wrap="square" lIns="72000" tIns="54000" rIns="72000" bIns="54000">
            <a:spAutoFit/>
          </a:bodyPr>
          <a:lstStyle/>
          <a:p>
            <a:pPr algn="l"/>
            <a:r>
              <a:rPr sz="800" b="0">
                <a:solidFill>
                  <a:srgbClr val="666666"/>
                </a:solidFill>
                <a:latin typeface="Pretendard"/>
              </a:rPr>
              <a:t>넓은 근막 범위의 림프 순환과 근막 이완에 특화된 타입으로 광범위 부위를 효율적으로 관리합니다.</a:t>
            </a:r>
          </a:p>
        </p:txBody>
      </p:sp>
      <p:sp>
        <p:nvSpPr>
          <p:cNvPr id="40" name="Rectangle 39"/>
          <p:cNvSpPr/>
          <p:nvPr/>
        </p:nvSpPr>
        <p:spPr>
          <a:xfrm>
            <a:off x="180000" y="7812000"/>
            <a:ext cx="7200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80000" y="8028000"/>
            <a:ext cx="7200000" cy="79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8000" y="8136000"/>
            <a:ext cx="6984000" cy="288000"/>
          </a:xfrm>
          <a:prstGeom prst="rect">
            <a:avLst/>
          </a:prstGeom>
          <a:noFill/>
        </p:spPr>
        <p:txBody>
          <a:bodyPr wrap="square" lIns="72000" tIns="54000" rIns="72000" bIns="54000">
            <a:spAutoFit/>
          </a:bodyPr>
          <a:lstStyle/>
          <a:p>
            <a:pPr algn="l"/>
            <a:r>
              <a:rPr sz="1100" b="1">
                <a:solidFill>
                  <a:srgbClr val="FFFFFF"/>
                </a:solidFill>
                <a:latin typeface="Pretendard"/>
              </a:rPr>
              <a:t>기대 효과</a:t>
            </a:r>
          </a:p>
        </p:txBody>
      </p:sp>
      <p:sp>
        <p:nvSpPr>
          <p:cNvPr id="43" name="TextBox 42"/>
          <p:cNvSpPr txBox="1"/>
          <p:nvPr/>
        </p:nvSpPr>
        <p:spPr>
          <a:xfrm>
            <a:off x="288000" y="8460000"/>
            <a:ext cx="6984000" cy="324000"/>
          </a:xfrm>
          <a:prstGeom prst="rect">
            <a:avLst/>
          </a:prstGeom>
          <a:noFill/>
        </p:spPr>
        <p:txBody>
          <a:bodyPr wrap="square" lIns="72000" tIns="54000" rIns="72000" bIns="54000">
            <a:spAutoFit/>
          </a:bodyPr>
          <a:lstStyle/>
          <a:p>
            <a:pPr algn="ctr"/>
            <a:r>
              <a:rPr sz="850" b="0">
                <a:solidFill>
                  <a:srgbClr val="EEDDD0"/>
                </a:solidFill>
                <a:latin typeface="Pretendard"/>
              </a:rPr>
              <a:t>건강한 근막 형성  ·  슬리밍 / 쉐이핑  ·  주름 개선  ·  체중 감량 증진  ·  부종 / 셀룰라이트 완화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6000" cy="1069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162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80000" y="-360000"/>
            <a:ext cx="936000" cy="936000"/>
          </a:xfrm>
          <a:prstGeom prst="ellipse">
            <a:avLst/>
          </a:prstGeom>
          <a:solidFill>
            <a:srgbClr val="D06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00" y="288000"/>
            <a:ext cx="6408000" cy="252000"/>
          </a:xfrm>
          <a:prstGeom prst="rect">
            <a:avLst/>
          </a:prstGeom>
          <a:noFill/>
        </p:spPr>
        <p:txBody>
          <a:bodyPr wrap="square" lIns="72000" tIns="54000" rIns="72000" bIns="54000">
            <a:spAutoFit/>
          </a:bodyPr>
          <a:lstStyle/>
          <a:p>
            <a:pPr algn="l"/>
            <a:r>
              <a:rPr sz="800" b="0">
                <a:solidFill>
                  <a:srgbClr val="F0956A"/>
                </a:solidFill>
                <a:latin typeface="Bernhard Modern"/>
              </a:rPr>
              <a:t>RECOMMENDATION</a:t>
            </a:r>
          </a:p>
        </p:txBody>
      </p:sp>
      <p:sp>
        <p:nvSpPr>
          <p:cNvPr id="6" name="TextBox 5"/>
          <p:cNvSpPr txBox="1"/>
          <p:nvPr/>
        </p:nvSpPr>
        <p:spPr>
          <a:xfrm>
            <a:off x="576000" y="612000"/>
            <a:ext cx="6408000" cy="468000"/>
          </a:xfrm>
          <a:prstGeom prst="rect">
            <a:avLst/>
          </a:prstGeom>
          <a:noFill/>
        </p:spPr>
        <p:txBody>
          <a:bodyPr wrap="square" lIns="72000" tIns="54000" rIns="72000" bIns="54000">
            <a:spAutoFit/>
          </a:bodyPr>
          <a:lstStyle/>
          <a:p>
            <a:pPr algn="l"/>
            <a:r>
              <a:rPr sz="1800" b="1">
                <a:solidFill>
                  <a:srgbClr val="FFFFFF"/>
                </a:solidFill>
                <a:latin typeface="Pretendard"/>
              </a:rPr>
              <a:t>이런 분께 추천합니다</a:t>
            </a:r>
          </a:p>
        </p:txBody>
      </p:sp>
      <p:sp>
        <p:nvSpPr>
          <p:cNvPr id="7" name="TextBox 6"/>
          <p:cNvSpPr txBox="1"/>
          <p:nvPr/>
        </p:nvSpPr>
        <p:spPr>
          <a:xfrm>
            <a:off x="576000" y="1152000"/>
            <a:ext cx="6408000" cy="360000"/>
          </a:xfrm>
          <a:prstGeom prst="rect">
            <a:avLst/>
          </a:prstGeom>
          <a:noFill/>
        </p:spPr>
        <p:txBody>
          <a:bodyPr wrap="square" lIns="72000" tIns="54000" rIns="72000" bIns="54000">
            <a:spAutoFit/>
          </a:bodyPr>
          <a:lstStyle/>
          <a:p>
            <a:pPr algn="l"/>
            <a:r>
              <a:rPr sz="800" b="0">
                <a:solidFill>
                  <a:srgbClr val="CCCCCC"/>
                </a:solidFill>
                <a:latin typeface="Pretendard"/>
              </a:rPr>
              <a:t>더마웨이브 트리트먼트 추천 고객 유형</a:t>
            </a:r>
          </a:p>
        </p:txBody>
      </p:sp>
      <p:sp>
        <p:nvSpPr>
          <p:cNvPr id="8" name="Rectangle 7"/>
          <p:cNvSpPr/>
          <p:nvPr/>
        </p:nvSpPr>
        <p:spPr>
          <a:xfrm>
            <a:off x="576000" y="10188000"/>
            <a:ext cx="6408000" cy="144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10224000"/>
            <a:ext cx="1800000" cy="252000"/>
          </a:xfrm>
          <a:prstGeom prst="rect">
            <a:avLst/>
          </a:prstGeom>
          <a:noFill/>
        </p:spPr>
        <p:txBody>
          <a:bodyPr wrap="square" lIns="72000" tIns="54000" rIns="72000" bIns="54000">
            <a:spAutoFit/>
          </a:bodyPr>
          <a:lstStyle/>
          <a:p>
            <a:pPr algn="l"/>
            <a:r>
              <a:rPr sz="700" b="0">
                <a:solidFill>
                  <a:srgbClr val="CCCCCC"/>
                </a:solidFill>
                <a:latin typeface="Pretendard"/>
              </a:rPr>
              <a:t>오블리브의원</a:t>
            </a:r>
          </a:p>
        </p:txBody>
      </p:sp>
      <p:sp>
        <p:nvSpPr>
          <p:cNvPr id="10" name="TextBox 9"/>
          <p:cNvSpPr txBox="1"/>
          <p:nvPr/>
        </p:nvSpPr>
        <p:spPr>
          <a:xfrm>
            <a:off x="2736000" y="10224000"/>
            <a:ext cx="2448000" cy="252000"/>
          </a:xfrm>
          <a:prstGeom prst="rect">
            <a:avLst/>
          </a:prstGeom>
          <a:noFill/>
        </p:spPr>
        <p:txBody>
          <a:bodyPr wrap="square" lIns="72000" tIns="54000" rIns="72000" bIns="54000">
            <a:spAutoFit/>
          </a:bodyPr>
          <a:lstStyle/>
          <a:p>
            <a:pPr algn="ctr"/>
            <a:r>
              <a:rPr sz="700" b="0">
                <a:solidFill>
                  <a:srgbClr val="CCCCCC"/>
                </a:solidFill>
                <a:latin typeface="Bernhard Modern"/>
              </a:rPr>
              <a:t>OBLIV CLINIC · DERMAWAVE</a:t>
            </a:r>
          </a:p>
        </p:txBody>
      </p:sp>
      <p:sp>
        <p:nvSpPr>
          <p:cNvPr id="11" name="Rectangle 10"/>
          <p:cNvSpPr/>
          <p:nvPr/>
        </p:nvSpPr>
        <p:spPr>
          <a:xfrm>
            <a:off x="25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000" y="10224000"/>
            <a:ext cx="1008000" cy="252000"/>
          </a:xfrm>
          <a:prstGeom prst="rect">
            <a:avLst/>
          </a:prstGeom>
          <a:noFill/>
        </p:spPr>
        <p:txBody>
          <a:bodyPr wrap="square" lIns="72000" tIns="54000" rIns="72000" bIns="54000">
            <a:spAutoFit/>
          </a:bodyPr>
          <a:lstStyle/>
          <a:p>
            <a:pPr algn="r"/>
            <a:r>
              <a:rPr sz="700" b="0">
                <a:solidFill>
                  <a:srgbClr val="CCCCCC"/>
                </a:solidFill>
                <a:latin typeface="Bernhard Modern"/>
              </a:rPr>
              <a:t>03</a:t>
            </a:r>
          </a:p>
        </p:txBody>
      </p:sp>
      <p:sp>
        <p:nvSpPr>
          <p:cNvPr id="14" name="TextBox 13"/>
          <p:cNvSpPr txBox="1"/>
          <p:nvPr/>
        </p:nvSpPr>
        <p:spPr>
          <a:xfrm>
            <a:off x="180000" y="1800000"/>
            <a:ext cx="2880000" cy="288000"/>
          </a:xfrm>
          <a:prstGeom prst="rect">
            <a:avLst/>
          </a:prstGeom>
          <a:noFill/>
        </p:spPr>
        <p:txBody>
          <a:bodyPr wrap="square" lIns="72000" tIns="54000" rIns="72000" bIns="54000">
            <a:spAutoFit/>
          </a:bodyPr>
          <a:lstStyle/>
          <a:p>
            <a:pPr algn="l"/>
            <a:r>
              <a:rPr sz="1200" b="1">
                <a:solidFill>
                  <a:srgbClr val="5C3317"/>
                </a:solidFill>
                <a:latin typeface="Pretendard"/>
              </a:rPr>
              <a:t>추천 대상</a:t>
            </a:r>
          </a:p>
        </p:txBody>
      </p:sp>
      <p:sp>
        <p:nvSpPr>
          <p:cNvPr id="15" name="Rectangle 14"/>
          <p:cNvSpPr/>
          <p:nvPr/>
        </p:nvSpPr>
        <p:spPr>
          <a:xfrm>
            <a:off x="180000" y="2088000"/>
            <a:ext cx="1620000" cy="216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0000" y="2340000"/>
            <a:ext cx="90000" cy="9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000" y="2232000"/>
            <a:ext cx="3168000" cy="468000"/>
          </a:xfrm>
          <a:prstGeom prst="rect">
            <a:avLst/>
          </a:prstGeom>
          <a:noFill/>
        </p:spPr>
        <p:txBody>
          <a:bodyPr wrap="square" lIns="72000" tIns="54000" rIns="72000" bIns="54000">
            <a:spAutoFit/>
          </a:bodyPr>
          <a:lstStyle/>
          <a:p>
            <a:pPr algn="l"/>
            <a:r>
              <a:rPr sz="850" b="0">
                <a:solidFill>
                  <a:srgbClr val="2C1A0E"/>
                </a:solidFill>
                <a:latin typeface="Pretendard"/>
              </a:rPr>
              <a:t>수술 없이 자연스러운 탄력과 리프팅을 원하시는 분</a:t>
            </a:r>
          </a:p>
        </p:txBody>
      </p:sp>
      <p:sp>
        <p:nvSpPr>
          <p:cNvPr id="18" name="Rectangle 17"/>
          <p:cNvSpPr/>
          <p:nvPr/>
        </p:nvSpPr>
        <p:spPr>
          <a:xfrm>
            <a:off x="180000" y="2736000"/>
            <a:ext cx="3348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0000" y="2916000"/>
            <a:ext cx="90000" cy="9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0000" y="2808000"/>
            <a:ext cx="3168000" cy="468000"/>
          </a:xfrm>
          <a:prstGeom prst="rect">
            <a:avLst/>
          </a:prstGeom>
          <a:noFill/>
        </p:spPr>
        <p:txBody>
          <a:bodyPr wrap="square" lIns="72000" tIns="54000" rIns="72000" bIns="54000">
            <a:spAutoFit/>
          </a:bodyPr>
          <a:lstStyle/>
          <a:p>
            <a:pPr algn="l"/>
            <a:r>
              <a:rPr sz="850" b="0">
                <a:solidFill>
                  <a:srgbClr val="2C1A0E"/>
                </a:solidFill>
                <a:latin typeface="Pretendard"/>
              </a:rPr>
              <a:t>1회 관리만으로도 즉각적인 효과가 필요하신 분</a:t>
            </a:r>
          </a:p>
        </p:txBody>
      </p:sp>
      <p:sp>
        <p:nvSpPr>
          <p:cNvPr id="21" name="Rectangle 20"/>
          <p:cNvSpPr/>
          <p:nvPr/>
        </p:nvSpPr>
        <p:spPr>
          <a:xfrm>
            <a:off x="180000" y="3312000"/>
            <a:ext cx="3348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000" y="3492000"/>
            <a:ext cx="90000" cy="9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0000" y="3384000"/>
            <a:ext cx="3168000" cy="468000"/>
          </a:xfrm>
          <a:prstGeom prst="rect">
            <a:avLst/>
          </a:prstGeom>
          <a:noFill/>
        </p:spPr>
        <p:txBody>
          <a:bodyPr wrap="square" lIns="72000" tIns="54000" rIns="72000" bIns="54000">
            <a:spAutoFit/>
          </a:bodyPr>
          <a:lstStyle/>
          <a:p>
            <a:pPr algn="l"/>
            <a:r>
              <a:rPr sz="850" b="0">
                <a:solidFill>
                  <a:srgbClr val="2C1A0E"/>
                </a:solidFill>
                <a:latin typeface="Pretendard"/>
              </a:rPr>
              <a:t>일상생활에 지장 없는 관리를 원하시는 분</a:t>
            </a:r>
          </a:p>
        </p:txBody>
      </p:sp>
      <p:sp>
        <p:nvSpPr>
          <p:cNvPr id="24" name="Rectangle 23"/>
          <p:cNvSpPr/>
          <p:nvPr/>
        </p:nvSpPr>
        <p:spPr>
          <a:xfrm>
            <a:off x="180000" y="3888000"/>
            <a:ext cx="3348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0000" y="4068000"/>
            <a:ext cx="90000" cy="9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0000" y="3960000"/>
            <a:ext cx="3168000" cy="468000"/>
          </a:xfrm>
          <a:prstGeom prst="rect">
            <a:avLst/>
          </a:prstGeom>
          <a:noFill/>
        </p:spPr>
        <p:txBody>
          <a:bodyPr wrap="square" lIns="72000" tIns="54000" rIns="72000" bIns="54000">
            <a:spAutoFit/>
          </a:bodyPr>
          <a:lstStyle/>
          <a:p>
            <a:pPr algn="l"/>
            <a:r>
              <a:rPr sz="850" b="0">
                <a:solidFill>
                  <a:srgbClr val="2C1A0E"/>
                </a:solidFill>
                <a:latin typeface="Pretendard"/>
              </a:rPr>
              <a:t>신체 순환 저하로 붓기가 잘 빠지지 않으시는 분</a:t>
            </a:r>
          </a:p>
        </p:txBody>
      </p:sp>
      <p:sp>
        <p:nvSpPr>
          <p:cNvPr id="27" name="Rectangle 26"/>
          <p:cNvSpPr/>
          <p:nvPr/>
        </p:nvSpPr>
        <p:spPr>
          <a:xfrm>
            <a:off x="180000" y="4464000"/>
            <a:ext cx="3348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0000" y="4644000"/>
            <a:ext cx="90000" cy="9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0000" y="4536000"/>
            <a:ext cx="3168000" cy="468000"/>
          </a:xfrm>
          <a:prstGeom prst="rect">
            <a:avLst/>
          </a:prstGeom>
          <a:noFill/>
        </p:spPr>
        <p:txBody>
          <a:bodyPr wrap="square" lIns="72000" tIns="54000" rIns="72000" bIns="54000">
            <a:spAutoFit/>
          </a:bodyPr>
          <a:lstStyle/>
          <a:p>
            <a:pPr algn="l"/>
            <a:r>
              <a:rPr sz="850" b="0">
                <a:solidFill>
                  <a:srgbClr val="2C1A0E"/>
                </a:solidFill>
                <a:latin typeface="Pretendard"/>
              </a:rPr>
              <a:t>몸에 에너지가 부족하고 만성 피로에 시달리는 분</a:t>
            </a:r>
          </a:p>
        </p:txBody>
      </p:sp>
      <p:sp>
        <p:nvSpPr>
          <p:cNvPr id="30" name="Rectangle 29"/>
          <p:cNvSpPr/>
          <p:nvPr/>
        </p:nvSpPr>
        <p:spPr>
          <a:xfrm>
            <a:off x="180000" y="5040000"/>
            <a:ext cx="3348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80000" y="5220000"/>
            <a:ext cx="90000" cy="9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0000" y="5112000"/>
            <a:ext cx="3168000" cy="468000"/>
          </a:xfrm>
          <a:prstGeom prst="rect">
            <a:avLst/>
          </a:prstGeom>
          <a:noFill/>
        </p:spPr>
        <p:txBody>
          <a:bodyPr wrap="square" lIns="72000" tIns="54000" rIns="72000" bIns="54000">
            <a:spAutoFit/>
          </a:bodyPr>
          <a:lstStyle/>
          <a:p>
            <a:pPr algn="l"/>
            <a:r>
              <a:rPr sz="850" b="0">
                <a:solidFill>
                  <a:srgbClr val="2C1A0E"/>
                </a:solidFill>
                <a:latin typeface="Pretendard"/>
              </a:rPr>
              <a:t>셀룰라이트 완화 및 군살 정리가 필요하신 분</a:t>
            </a:r>
          </a:p>
        </p:txBody>
      </p:sp>
      <p:sp>
        <p:nvSpPr>
          <p:cNvPr id="33" name="Rectangle 32"/>
          <p:cNvSpPr/>
          <p:nvPr/>
        </p:nvSpPr>
        <p:spPr>
          <a:xfrm>
            <a:off x="180000" y="5616000"/>
            <a:ext cx="3348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80000" y="5796000"/>
            <a:ext cx="90000" cy="9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0000" y="5688000"/>
            <a:ext cx="3168000" cy="468000"/>
          </a:xfrm>
          <a:prstGeom prst="rect">
            <a:avLst/>
          </a:prstGeom>
          <a:noFill/>
        </p:spPr>
        <p:txBody>
          <a:bodyPr wrap="square" lIns="72000" tIns="54000" rIns="72000" bIns="54000">
            <a:spAutoFit/>
          </a:bodyPr>
          <a:lstStyle/>
          <a:p>
            <a:pPr algn="l"/>
            <a:r>
              <a:rPr sz="850" b="0">
                <a:solidFill>
                  <a:srgbClr val="2C1A0E"/>
                </a:solidFill>
                <a:latin typeface="Pretendard"/>
              </a:rPr>
              <a:t>피부과 시술 이후 빠른 회복이 필요하신 분</a:t>
            </a:r>
          </a:p>
        </p:txBody>
      </p:sp>
      <p:sp>
        <p:nvSpPr>
          <p:cNvPr id="36" name="Rectangle 35"/>
          <p:cNvSpPr/>
          <p:nvPr/>
        </p:nvSpPr>
        <p:spPr>
          <a:xfrm>
            <a:off x="180000" y="6192000"/>
            <a:ext cx="3348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80000" y="6372000"/>
            <a:ext cx="90000" cy="9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0000" y="6264000"/>
            <a:ext cx="3168000" cy="468000"/>
          </a:xfrm>
          <a:prstGeom prst="rect">
            <a:avLst/>
          </a:prstGeom>
          <a:noFill/>
        </p:spPr>
        <p:txBody>
          <a:bodyPr wrap="square" lIns="72000" tIns="54000" rIns="72000" bIns="54000">
            <a:spAutoFit/>
          </a:bodyPr>
          <a:lstStyle/>
          <a:p>
            <a:pPr algn="l"/>
            <a:r>
              <a:rPr sz="850" b="0">
                <a:solidFill>
                  <a:srgbClr val="2C1A0E"/>
                </a:solidFill>
                <a:latin typeface="Pretendard"/>
              </a:rPr>
              <a:t>다이어트로 인한 탄력 저하가 고민이신 분</a:t>
            </a:r>
          </a:p>
        </p:txBody>
      </p:sp>
      <p:sp>
        <p:nvSpPr>
          <p:cNvPr id="39" name="Rectangle 38"/>
          <p:cNvSpPr/>
          <p:nvPr/>
        </p:nvSpPr>
        <p:spPr>
          <a:xfrm>
            <a:off x="180000" y="6768000"/>
            <a:ext cx="3348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52000" y="1800000"/>
            <a:ext cx="3420000" cy="288000"/>
          </a:xfrm>
          <a:prstGeom prst="rect">
            <a:avLst/>
          </a:prstGeom>
          <a:noFill/>
        </p:spPr>
        <p:txBody>
          <a:bodyPr wrap="square" lIns="72000" tIns="54000" rIns="72000" bIns="54000">
            <a:spAutoFit/>
          </a:bodyPr>
          <a:lstStyle/>
          <a:p>
            <a:pPr algn="l"/>
            <a:r>
              <a:rPr sz="1200" b="1">
                <a:solidFill>
                  <a:srgbClr val="5C3317"/>
                </a:solidFill>
                <a:latin typeface="Pretendard"/>
              </a:rPr>
              <a:t>관리 가능 부위</a:t>
            </a:r>
          </a:p>
        </p:txBody>
      </p:sp>
      <p:sp>
        <p:nvSpPr>
          <p:cNvPr id="41" name="Rectangle 40"/>
          <p:cNvSpPr/>
          <p:nvPr/>
        </p:nvSpPr>
        <p:spPr>
          <a:xfrm>
            <a:off x="3852000" y="2088000"/>
            <a:ext cx="2088000" cy="216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852000" y="2232000"/>
            <a:ext cx="3528000" cy="172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852000" y="2232000"/>
            <a:ext cx="3528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60000" y="2448000"/>
            <a:ext cx="3312000" cy="324000"/>
          </a:xfrm>
          <a:prstGeom prst="rect">
            <a:avLst/>
          </a:prstGeom>
          <a:noFill/>
        </p:spPr>
        <p:txBody>
          <a:bodyPr wrap="square" lIns="72000" tIns="54000" rIns="72000" bIns="54000">
            <a:spAutoFit/>
          </a:bodyPr>
          <a:lstStyle/>
          <a:p>
            <a:pPr algn="l"/>
            <a:r>
              <a:rPr sz="950" b="1">
                <a:solidFill>
                  <a:srgbClr val="C45A1A"/>
                </a:solidFill>
                <a:latin typeface="Pretendard"/>
              </a:rPr>
              <a:t>페이스 &amp; 데콜테</a:t>
            </a:r>
          </a:p>
        </p:txBody>
      </p:sp>
      <p:sp>
        <p:nvSpPr>
          <p:cNvPr id="45" name="TextBox 44"/>
          <p:cNvSpPr txBox="1"/>
          <p:nvPr/>
        </p:nvSpPr>
        <p:spPr>
          <a:xfrm>
            <a:off x="3960000" y="2844000"/>
            <a:ext cx="3312000" cy="936000"/>
          </a:xfrm>
          <a:prstGeom prst="rect">
            <a:avLst/>
          </a:prstGeom>
          <a:noFill/>
        </p:spPr>
        <p:txBody>
          <a:bodyPr wrap="square" lIns="72000" tIns="54000" rIns="72000" bIns="54000">
            <a:spAutoFit/>
          </a:bodyPr>
          <a:lstStyle/>
          <a:p>
            <a:pPr algn="l"/>
            <a:r>
              <a:rPr sz="800" b="0">
                <a:solidFill>
                  <a:srgbClr val="666666"/>
                </a:solidFill>
                <a:latin typeface="Pretendard"/>
              </a:rPr>
              <a:t>얼굴 리프팅 · 쉐이핑 · 안색 개선 · 주름 완화</a:t>
            </a:r>
          </a:p>
        </p:txBody>
      </p:sp>
      <p:sp>
        <p:nvSpPr>
          <p:cNvPr id="46" name="Rectangle 45"/>
          <p:cNvSpPr/>
          <p:nvPr/>
        </p:nvSpPr>
        <p:spPr>
          <a:xfrm>
            <a:off x="3852000" y="4104000"/>
            <a:ext cx="3528000" cy="172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3852000" y="4104000"/>
            <a:ext cx="3528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960000" y="4320000"/>
            <a:ext cx="3312000" cy="324000"/>
          </a:xfrm>
          <a:prstGeom prst="rect">
            <a:avLst/>
          </a:prstGeom>
          <a:noFill/>
        </p:spPr>
        <p:txBody>
          <a:bodyPr wrap="square" lIns="72000" tIns="54000" rIns="72000" bIns="54000">
            <a:spAutoFit/>
          </a:bodyPr>
          <a:lstStyle/>
          <a:p>
            <a:pPr algn="l"/>
            <a:r>
              <a:rPr sz="950" b="1">
                <a:solidFill>
                  <a:srgbClr val="C45A1A"/>
                </a:solidFill>
                <a:latin typeface="Pretendard"/>
              </a:rPr>
              <a:t>상체 전면</a:t>
            </a:r>
          </a:p>
        </p:txBody>
      </p:sp>
      <p:sp>
        <p:nvSpPr>
          <p:cNvPr id="49" name="TextBox 48"/>
          <p:cNvSpPr txBox="1"/>
          <p:nvPr/>
        </p:nvSpPr>
        <p:spPr>
          <a:xfrm>
            <a:off x="3960000" y="4716000"/>
            <a:ext cx="3312000" cy="936000"/>
          </a:xfrm>
          <a:prstGeom prst="rect">
            <a:avLst/>
          </a:prstGeom>
          <a:noFill/>
        </p:spPr>
        <p:txBody>
          <a:bodyPr wrap="square" lIns="72000" tIns="54000" rIns="72000" bIns="54000">
            <a:spAutoFit/>
          </a:bodyPr>
          <a:lstStyle/>
          <a:p>
            <a:pPr algn="l"/>
            <a:r>
              <a:rPr sz="800" b="0">
                <a:solidFill>
                  <a:srgbClr val="666666"/>
                </a:solidFill>
                <a:latin typeface="Pretendard"/>
              </a:rPr>
              <a:t>복부 슬리밍 · 골반 교정 · 부유방 제거 · 팔뚝라인 정리</a:t>
            </a:r>
          </a:p>
        </p:txBody>
      </p:sp>
      <p:sp>
        <p:nvSpPr>
          <p:cNvPr id="50" name="Rectangle 49"/>
          <p:cNvSpPr/>
          <p:nvPr/>
        </p:nvSpPr>
        <p:spPr>
          <a:xfrm>
            <a:off x="3852000" y="5976000"/>
            <a:ext cx="3528000" cy="172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3852000" y="5976000"/>
            <a:ext cx="3528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960000" y="6192000"/>
            <a:ext cx="3312000" cy="324000"/>
          </a:xfrm>
          <a:prstGeom prst="rect">
            <a:avLst/>
          </a:prstGeom>
          <a:noFill/>
        </p:spPr>
        <p:txBody>
          <a:bodyPr wrap="square" lIns="72000" tIns="54000" rIns="72000" bIns="54000">
            <a:spAutoFit/>
          </a:bodyPr>
          <a:lstStyle/>
          <a:p>
            <a:pPr algn="l"/>
            <a:r>
              <a:rPr sz="950" b="1">
                <a:solidFill>
                  <a:srgbClr val="C45A1A"/>
                </a:solidFill>
                <a:latin typeface="Pretendard"/>
              </a:rPr>
              <a:t>상체 후면</a:t>
            </a:r>
          </a:p>
        </p:txBody>
      </p:sp>
      <p:sp>
        <p:nvSpPr>
          <p:cNvPr id="53" name="TextBox 52"/>
          <p:cNvSpPr txBox="1"/>
          <p:nvPr/>
        </p:nvSpPr>
        <p:spPr>
          <a:xfrm>
            <a:off x="3960000" y="6588000"/>
            <a:ext cx="3312000" cy="936000"/>
          </a:xfrm>
          <a:prstGeom prst="rect">
            <a:avLst/>
          </a:prstGeom>
          <a:noFill/>
        </p:spPr>
        <p:txBody>
          <a:bodyPr wrap="square" lIns="72000" tIns="54000" rIns="72000" bIns="54000">
            <a:spAutoFit/>
          </a:bodyPr>
          <a:lstStyle/>
          <a:p>
            <a:pPr algn="l"/>
            <a:r>
              <a:rPr sz="800" b="0">
                <a:solidFill>
                  <a:srgbClr val="666666"/>
                </a:solidFill>
                <a:latin typeface="Pretendard"/>
              </a:rPr>
              <a:t>척추(거북목) 교정 · 승모근 완화 · 등 군살 정리</a:t>
            </a:r>
          </a:p>
        </p:txBody>
      </p:sp>
      <p:sp>
        <p:nvSpPr>
          <p:cNvPr id="54" name="Rectangle 53"/>
          <p:cNvSpPr/>
          <p:nvPr/>
        </p:nvSpPr>
        <p:spPr>
          <a:xfrm>
            <a:off x="3852000" y="7848000"/>
            <a:ext cx="3528000" cy="172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852000" y="7848000"/>
            <a:ext cx="3528000" cy="5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960000" y="8064000"/>
            <a:ext cx="3312000" cy="324000"/>
          </a:xfrm>
          <a:prstGeom prst="rect">
            <a:avLst/>
          </a:prstGeom>
          <a:noFill/>
        </p:spPr>
        <p:txBody>
          <a:bodyPr wrap="square" lIns="72000" tIns="54000" rIns="72000" bIns="54000">
            <a:spAutoFit/>
          </a:bodyPr>
          <a:lstStyle/>
          <a:p>
            <a:pPr algn="l"/>
            <a:r>
              <a:rPr sz="950" b="1">
                <a:solidFill>
                  <a:srgbClr val="C45A1A"/>
                </a:solidFill>
                <a:latin typeface="Pretendard"/>
              </a:rPr>
              <a:t>하체</a:t>
            </a:r>
          </a:p>
        </p:txBody>
      </p:sp>
      <p:sp>
        <p:nvSpPr>
          <p:cNvPr id="57" name="TextBox 56"/>
          <p:cNvSpPr txBox="1"/>
          <p:nvPr/>
        </p:nvSpPr>
        <p:spPr>
          <a:xfrm>
            <a:off x="3960000" y="8460000"/>
            <a:ext cx="3312000" cy="936000"/>
          </a:xfrm>
          <a:prstGeom prst="rect">
            <a:avLst/>
          </a:prstGeom>
          <a:noFill/>
        </p:spPr>
        <p:txBody>
          <a:bodyPr wrap="square" lIns="72000" tIns="54000" rIns="72000" bIns="54000">
            <a:spAutoFit/>
          </a:bodyPr>
          <a:lstStyle/>
          <a:p>
            <a:pPr algn="l"/>
            <a:r>
              <a:rPr sz="800" b="0">
                <a:solidFill>
                  <a:srgbClr val="666666"/>
                </a:solidFill>
                <a:latin typeface="Pretendard"/>
              </a:rPr>
              <a:t>다리 부종 완화 · 슬리밍 · 셀룰라이트 제거 · 피부 토닝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6000" cy="1069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162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80000" y="-360000"/>
            <a:ext cx="936000" cy="936000"/>
          </a:xfrm>
          <a:prstGeom prst="ellipse">
            <a:avLst/>
          </a:prstGeom>
          <a:solidFill>
            <a:srgbClr val="D06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00" y="288000"/>
            <a:ext cx="6408000" cy="252000"/>
          </a:xfrm>
          <a:prstGeom prst="rect">
            <a:avLst/>
          </a:prstGeom>
          <a:noFill/>
        </p:spPr>
        <p:txBody>
          <a:bodyPr wrap="square" lIns="72000" tIns="54000" rIns="72000" bIns="54000">
            <a:spAutoFit/>
          </a:bodyPr>
          <a:lstStyle/>
          <a:p>
            <a:pPr algn="l"/>
            <a:r>
              <a:rPr sz="800" b="0">
                <a:solidFill>
                  <a:srgbClr val="F0956A"/>
                </a:solidFill>
                <a:latin typeface="Bernhard Modern"/>
              </a:rPr>
              <a:t>TREATMENT MENU</a:t>
            </a:r>
          </a:p>
        </p:txBody>
      </p:sp>
      <p:sp>
        <p:nvSpPr>
          <p:cNvPr id="6" name="TextBox 5"/>
          <p:cNvSpPr txBox="1"/>
          <p:nvPr/>
        </p:nvSpPr>
        <p:spPr>
          <a:xfrm>
            <a:off x="576000" y="612000"/>
            <a:ext cx="6408000" cy="468000"/>
          </a:xfrm>
          <a:prstGeom prst="rect">
            <a:avLst/>
          </a:prstGeom>
          <a:noFill/>
        </p:spPr>
        <p:txBody>
          <a:bodyPr wrap="square" lIns="72000" tIns="54000" rIns="72000" bIns="54000">
            <a:spAutoFit/>
          </a:bodyPr>
          <a:lstStyle/>
          <a:p>
            <a:pPr algn="l"/>
            <a:r>
              <a:rPr sz="1800" b="1">
                <a:solidFill>
                  <a:srgbClr val="FFFFFF"/>
                </a:solidFill>
                <a:latin typeface="Pretendard"/>
              </a:rPr>
              <a:t>트리트먼트 프로그램</a:t>
            </a:r>
          </a:p>
        </p:txBody>
      </p:sp>
      <p:sp>
        <p:nvSpPr>
          <p:cNvPr id="7" name="TextBox 6"/>
          <p:cNvSpPr txBox="1"/>
          <p:nvPr/>
        </p:nvSpPr>
        <p:spPr>
          <a:xfrm>
            <a:off x="576000" y="1152000"/>
            <a:ext cx="6408000" cy="360000"/>
          </a:xfrm>
          <a:prstGeom prst="rect">
            <a:avLst/>
          </a:prstGeom>
          <a:noFill/>
        </p:spPr>
        <p:txBody>
          <a:bodyPr wrap="square" lIns="72000" tIns="54000" rIns="72000" bIns="54000">
            <a:spAutoFit/>
          </a:bodyPr>
          <a:lstStyle/>
          <a:p>
            <a:pPr algn="l"/>
            <a:r>
              <a:rPr sz="800" b="0">
                <a:solidFill>
                  <a:srgbClr val="CCCCCC"/>
                </a:solidFill>
                <a:latin typeface="Pretendard"/>
              </a:rPr>
              <a:t>부위별 맞춤 시술 — 관리 효과 및 시간 안내</a:t>
            </a:r>
          </a:p>
        </p:txBody>
      </p:sp>
      <p:sp>
        <p:nvSpPr>
          <p:cNvPr id="8" name="Rectangle 7"/>
          <p:cNvSpPr/>
          <p:nvPr/>
        </p:nvSpPr>
        <p:spPr>
          <a:xfrm>
            <a:off x="576000" y="10188000"/>
            <a:ext cx="6408000" cy="144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10224000"/>
            <a:ext cx="1800000" cy="252000"/>
          </a:xfrm>
          <a:prstGeom prst="rect">
            <a:avLst/>
          </a:prstGeom>
          <a:noFill/>
        </p:spPr>
        <p:txBody>
          <a:bodyPr wrap="square" lIns="72000" tIns="54000" rIns="72000" bIns="54000">
            <a:spAutoFit/>
          </a:bodyPr>
          <a:lstStyle/>
          <a:p>
            <a:pPr algn="l"/>
            <a:r>
              <a:rPr sz="700" b="0">
                <a:solidFill>
                  <a:srgbClr val="CCCCCC"/>
                </a:solidFill>
                <a:latin typeface="Pretendard"/>
              </a:rPr>
              <a:t>오블리브의원</a:t>
            </a:r>
          </a:p>
        </p:txBody>
      </p:sp>
      <p:sp>
        <p:nvSpPr>
          <p:cNvPr id="10" name="TextBox 9"/>
          <p:cNvSpPr txBox="1"/>
          <p:nvPr/>
        </p:nvSpPr>
        <p:spPr>
          <a:xfrm>
            <a:off x="2736000" y="10224000"/>
            <a:ext cx="2448000" cy="252000"/>
          </a:xfrm>
          <a:prstGeom prst="rect">
            <a:avLst/>
          </a:prstGeom>
          <a:noFill/>
        </p:spPr>
        <p:txBody>
          <a:bodyPr wrap="square" lIns="72000" tIns="54000" rIns="72000" bIns="54000">
            <a:spAutoFit/>
          </a:bodyPr>
          <a:lstStyle/>
          <a:p>
            <a:pPr algn="ctr"/>
            <a:r>
              <a:rPr sz="700" b="0">
                <a:solidFill>
                  <a:srgbClr val="CCCCCC"/>
                </a:solidFill>
                <a:latin typeface="Bernhard Modern"/>
              </a:rPr>
              <a:t>OBLIV CLINIC · DERMAWAVE</a:t>
            </a:r>
          </a:p>
        </p:txBody>
      </p:sp>
      <p:sp>
        <p:nvSpPr>
          <p:cNvPr id="11" name="Rectangle 10"/>
          <p:cNvSpPr/>
          <p:nvPr/>
        </p:nvSpPr>
        <p:spPr>
          <a:xfrm>
            <a:off x="25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000" y="10224000"/>
            <a:ext cx="1008000" cy="252000"/>
          </a:xfrm>
          <a:prstGeom prst="rect">
            <a:avLst/>
          </a:prstGeom>
          <a:noFill/>
        </p:spPr>
        <p:txBody>
          <a:bodyPr wrap="square" lIns="72000" tIns="54000" rIns="72000" bIns="54000">
            <a:spAutoFit/>
          </a:bodyPr>
          <a:lstStyle/>
          <a:p>
            <a:pPr algn="r"/>
            <a:r>
              <a:rPr sz="700" b="0">
                <a:solidFill>
                  <a:srgbClr val="CCCCCC"/>
                </a:solidFill>
                <a:latin typeface="Bernhard Modern"/>
              </a:rPr>
              <a:t>04</a:t>
            </a:r>
          </a:p>
        </p:txBody>
      </p:sp>
      <p:sp>
        <p:nvSpPr>
          <p:cNvPr id="14" name="Rectangle 13"/>
          <p:cNvSpPr/>
          <p:nvPr/>
        </p:nvSpPr>
        <p:spPr>
          <a:xfrm>
            <a:off x="180000" y="1800000"/>
            <a:ext cx="7200000" cy="50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00" y="1908000"/>
            <a:ext cx="5472000" cy="324000"/>
          </a:xfrm>
          <a:prstGeom prst="rect">
            <a:avLst/>
          </a:prstGeom>
          <a:noFill/>
        </p:spPr>
        <p:txBody>
          <a:bodyPr wrap="square" lIns="72000" tIns="54000" rIns="72000" bIns="54000">
            <a:spAutoFit/>
          </a:bodyPr>
          <a:lstStyle/>
          <a:p>
            <a:pPr algn="l"/>
            <a:r>
              <a:rPr sz="1050" b="1">
                <a:solidFill>
                  <a:srgbClr val="FFFFFF"/>
                </a:solidFill>
                <a:latin typeface="Pretendard"/>
              </a:rPr>
              <a:t>페이스 &amp; 데콜테 트리트먼트</a:t>
            </a:r>
          </a:p>
        </p:txBody>
      </p:sp>
      <p:sp>
        <p:nvSpPr>
          <p:cNvPr id="16" name="Rectangle 15"/>
          <p:cNvSpPr/>
          <p:nvPr/>
        </p:nvSpPr>
        <p:spPr>
          <a:xfrm>
            <a:off x="5868000" y="1908000"/>
            <a:ext cx="1440000" cy="288000"/>
          </a:xfrm>
          <a:prstGeom prst="rect">
            <a:avLst/>
          </a:prstGeom>
          <a:solidFill>
            <a:srgbClr val="A04812"/>
          </a:solidFill>
          <a:ln>
            <a:noFill/>
          </a:ln>
        </p:spPr>
        <p:style>
          <a:lnRef idx="1">
            <a:schemeClr val="accent1"/>
          </a:lnRef>
          <a:fillRef idx="3">
            <a:schemeClr val="accent1"/>
          </a:fillRef>
          <a:effectRef idx="2">
            <a:schemeClr val="accent1"/>
          </a:effectRef>
          <a:fontRef idx="minor">
            <a:schemeClr val="lt1"/>
          </a:fontRef>
        </p:style>
        <p:txBody>
          <a:bodyPr rtlCol="0" anchor="ctr" lIns="36000" tIns="36000" rIns="36000" bIns="36000"/>
          <a:lstStyle/>
          <a:p>
            <a:pPr algn="ctr"/>
            <a:r>
              <a:rPr sz="800">
                <a:solidFill>
                  <a:srgbClr val="FFFFFF"/>
                </a:solidFill>
                <a:latin typeface="Bernhard Modern"/>
              </a:rPr>
              <a:t>약 20분</a:t>
            </a:r>
          </a:p>
        </p:txBody>
      </p:sp>
      <p:sp>
        <p:nvSpPr>
          <p:cNvPr id="17" name="Rectangle 16"/>
          <p:cNvSpPr/>
          <p:nvPr/>
        </p:nvSpPr>
        <p:spPr>
          <a:xfrm>
            <a:off x="180000" y="2304000"/>
            <a:ext cx="7200000" cy="190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00" y="2412000"/>
            <a:ext cx="6984000" cy="1008000"/>
          </a:xfrm>
          <a:prstGeom prst="rect">
            <a:avLst/>
          </a:prstGeom>
          <a:noFill/>
        </p:spPr>
        <p:txBody>
          <a:bodyPr wrap="square" lIns="72000" tIns="54000" rIns="72000" bIns="54000">
            <a:spAutoFit/>
          </a:bodyPr>
          <a:lstStyle/>
          <a:p>
            <a:pPr algn="l"/>
            <a:r>
              <a:rPr sz="850" b="0">
                <a:solidFill>
                  <a:srgbClr val="666666"/>
                </a:solidFill>
                <a:latin typeface="Pretendard"/>
              </a:rPr>
              <a:t>고주파를 통해 진피층의 콜라겐과 탄력섬유를 활성화시키고 림프에 쌓인 노폐물을 배출시켜 얼굴 라인을 매끄럽게 정리합니다. 입체적인 볼륨감을 부여하여 자연스러운 안티에이징 효과를 완성합니다.</a:t>
            </a:r>
          </a:p>
        </p:txBody>
      </p:sp>
      <p:sp>
        <p:nvSpPr>
          <p:cNvPr id="19" name="Rectangle 18"/>
          <p:cNvSpPr/>
          <p:nvPr/>
        </p:nvSpPr>
        <p:spPr>
          <a:xfrm>
            <a:off x="288000" y="3492000"/>
            <a:ext cx="1317599"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페이스 리프팅</a:t>
            </a:r>
          </a:p>
        </p:txBody>
      </p:sp>
      <p:sp>
        <p:nvSpPr>
          <p:cNvPr id="20" name="Rectangle 19"/>
          <p:cNvSpPr/>
          <p:nvPr/>
        </p:nvSpPr>
        <p:spPr>
          <a:xfrm>
            <a:off x="1713599" y="3492000"/>
            <a:ext cx="7704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쉐이핑</a:t>
            </a:r>
          </a:p>
        </p:txBody>
      </p:sp>
      <p:sp>
        <p:nvSpPr>
          <p:cNvPr id="21" name="Rectangle 20"/>
          <p:cNvSpPr/>
          <p:nvPr/>
        </p:nvSpPr>
        <p:spPr>
          <a:xfrm>
            <a:off x="2592000" y="3492000"/>
            <a:ext cx="10440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안색 개선</a:t>
            </a:r>
          </a:p>
        </p:txBody>
      </p:sp>
      <p:sp>
        <p:nvSpPr>
          <p:cNvPr id="22" name="Rectangle 21"/>
          <p:cNvSpPr/>
          <p:nvPr/>
        </p:nvSpPr>
        <p:spPr>
          <a:xfrm>
            <a:off x="3744000" y="3492000"/>
            <a:ext cx="10440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볼륨 부여</a:t>
            </a:r>
          </a:p>
        </p:txBody>
      </p:sp>
      <p:sp>
        <p:nvSpPr>
          <p:cNvPr id="23" name="Rectangle 22"/>
          <p:cNvSpPr/>
          <p:nvPr/>
        </p:nvSpPr>
        <p:spPr>
          <a:xfrm>
            <a:off x="180000" y="4464000"/>
            <a:ext cx="7200000" cy="50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8000" y="4572000"/>
            <a:ext cx="5472000" cy="324000"/>
          </a:xfrm>
          <a:prstGeom prst="rect">
            <a:avLst/>
          </a:prstGeom>
          <a:noFill/>
        </p:spPr>
        <p:txBody>
          <a:bodyPr wrap="square" lIns="72000" tIns="54000" rIns="72000" bIns="54000">
            <a:spAutoFit/>
          </a:bodyPr>
          <a:lstStyle/>
          <a:p>
            <a:pPr algn="l"/>
            <a:r>
              <a:rPr sz="1050" b="1">
                <a:solidFill>
                  <a:srgbClr val="FFFFFF"/>
                </a:solidFill>
                <a:latin typeface="Pretendard"/>
              </a:rPr>
              <a:t>상체 전면 트리트먼트</a:t>
            </a:r>
          </a:p>
        </p:txBody>
      </p:sp>
      <p:sp>
        <p:nvSpPr>
          <p:cNvPr id="25" name="Rectangle 24"/>
          <p:cNvSpPr/>
          <p:nvPr/>
        </p:nvSpPr>
        <p:spPr>
          <a:xfrm>
            <a:off x="5868000" y="4572000"/>
            <a:ext cx="1440000" cy="288000"/>
          </a:xfrm>
          <a:prstGeom prst="rect">
            <a:avLst/>
          </a:prstGeom>
          <a:solidFill>
            <a:srgbClr val="A04812"/>
          </a:solidFill>
          <a:ln>
            <a:noFill/>
          </a:ln>
        </p:spPr>
        <p:style>
          <a:lnRef idx="1">
            <a:schemeClr val="accent1"/>
          </a:lnRef>
          <a:fillRef idx="3">
            <a:schemeClr val="accent1"/>
          </a:fillRef>
          <a:effectRef idx="2">
            <a:schemeClr val="accent1"/>
          </a:effectRef>
          <a:fontRef idx="minor">
            <a:schemeClr val="lt1"/>
          </a:fontRef>
        </p:style>
        <p:txBody>
          <a:bodyPr rtlCol="0" anchor="ctr" lIns="36000" tIns="36000" rIns="36000" bIns="36000"/>
          <a:lstStyle/>
          <a:p>
            <a:pPr algn="ctr"/>
            <a:r>
              <a:rPr sz="800">
                <a:solidFill>
                  <a:srgbClr val="FFFFFF"/>
                </a:solidFill>
                <a:latin typeface="Bernhard Modern"/>
              </a:rPr>
              <a:t>약 30분</a:t>
            </a:r>
          </a:p>
        </p:txBody>
      </p:sp>
      <p:sp>
        <p:nvSpPr>
          <p:cNvPr id="26" name="Rectangle 25"/>
          <p:cNvSpPr/>
          <p:nvPr/>
        </p:nvSpPr>
        <p:spPr>
          <a:xfrm>
            <a:off x="180000" y="4968000"/>
            <a:ext cx="7200000" cy="190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8000" y="5076000"/>
            <a:ext cx="6984000" cy="1008000"/>
          </a:xfrm>
          <a:prstGeom prst="rect">
            <a:avLst/>
          </a:prstGeom>
          <a:noFill/>
        </p:spPr>
        <p:txBody>
          <a:bodyPr wrap="square" lIns="72000" tIns="54000" rIns="72000" bIns="54000">
            <a:spAutoFit/>
          </a:bodyPr>
          <a:lstStyle/>
          <a:p>
            <a:pPr algn="l"/>
            <a:r>
              <a:rPr sz="850" b="0">
                <a:solidFill>
                  <a:srgbClr val="666666"/>
                </a:solidFill>
                <a:latin typeface="Pretendard"/>
              </a:rPr>
              <a:t>체내에 쌓인 냉기를 배출하고 코어의 힘을 길러 장기적으로 면역력을 올리며 셀룰라이트를 감소시켜 건강한 신체를 가꿉니다. 디톡스·복부 슬리밍·부유방 제거·팔뚝라인 정리에 효과적입니다.</a:t>
            </a:r>
          </a:p>
        </p:txBody>
      </p:sp>
      <p:sp>
        <p:nvSpPr>
          <p:cNvPr id="28" name="Rectangle 27"/>
          <p:cNvSpPr/>
          <p:nvPr/>
        </p:nvSpPr>
        <p:spPr>
          <a:xfrm>
            <a:off x="288000" y="6156000"/>
            <a:ext cx="11808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복부 슬리밍</a:t>
            </a:r>
          </a:p>
        </p:txBody>
      </p:sp>
      <p:sp>
        <p:nvSpPr>
          <p:cNvPr id="29" name="Rectangle 28"/>
          <p:cNvSpPr/>
          <p:nvPr/>
        </p:nvSpPr>
        <p:spPr>
          <a:xfrm>
            <a:off x="1576800" y="6156000"/>
            <a:ext cx="10440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골반 교정</a:t>
            </a:r>
          </a:p>
        </p:txBody>
      </p:sp>
      <p:sp>
        <p:nvSpPr>
          <p:cNvPr id="30" name="Rectangle 29"/>
          <p:cNvSpPr/>
          <p:nvPr/>
        </p:nvSpPr>
        <p:spPr>
          <a:xfrm>
            <a:off x="2728800" y="6156000"/>
            <a:ext cx="11808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부유방 제거</a:t>
            </a:r>
          </a:p>
        </p:txBody>
      </p:sp>
      <p:sp>
        <p:nvSpPr>
          <p:cNvPr id="31" name="Rectangle 30"/>
          <p:cNvSpPr/>
          <p:nvPr/>
        </p:nvSpPr>
        <p:spPr>
          <a:xfrm>
            <a:off x="4017600" y="6156000"/>
            <a:ext cx="1317599"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팔뚝라인 정리</a:t>
            </a:r>
          </a:p>
        </p:txBody>
      </p:sp>
      <p:sp>
        <p:nvSpPr>
          <p:cNvPr id="32" name="Rectangle 31"/>
          <p:cNvSpPr/>
          <p:nvPr/>
        </p:nvSpPr>
        <p:spPr>
          <a:xfrm>
            <a:off x="5443200" y="6156000"/>
            <a:ext cx="11808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면역력 증강</a:t>
            </a:r>
          </a:p>
        </p:txBody>
      </p:sp>
      <p:sp>
        <p:nvSpPr>
          <p:cNvPr id="33" name="Rectangle 32"/>
          <p:cNvSpPr/>
          <p:nvPr/>
        </p:nvSpPr>
        <p:spPr>
          <a:xfrm>
            <a:off x="180000" y="7128000"/>
            <a:ext cx="7200000" cy="50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8000" y="7236000"/>
            <a:ext cx="5472000" cy="324000"/>
          </a:xfrm>
          <a:prstGeom prst="rect">
            <a:avLst/>
          </a:prstGeom>
          <a:noFill/>
        </p:spPr>
        <p:txBody>
          <a:bodyPr wrap="square" lIns="72000" tIns="54000" rIns="72000" bIns="54000">
            <a:spAutoFit/>
          </a:bodyPr>
          <a:lstStyle/>
          <a:p>
            <a:pPr algn="l"/>
            <a:r>
              <a:rPr sz="1050" b="1">
                <a:solidFill>
                  <a:srgbClr val="FFFFFF"/>
                </a:solidFill>
                <a:latin typeface="Pretendard"/>
              </a:rPr>
              <a:t>상체 후면 트리트먼트</a:t>
            </a:r>
          </a:p>
        </p:txBody>
      </p:sp>
      <p:sp>
        <p:nvSpPr>
          <p:cNvPr id="35" name="Rectangle 34"/>
          <p:cNvSpPr/>
          <p:nvPr/>
        </p:nvSpPr>
        <p:spPr>
          <a:xfrm>
            <a:off x="5868000" y="7236000"/>
            <a:ext cx="1440000" cy="288000"/>
          </a:xfrm>
          <a:prstGeom prst="rect">
            <a:avLst/>
          </a:prstGeom>
          <a:solidFill>
            <a:srgbClr val="A04812"/>
          </a:solidFill>
          <a:ln>
            <a:noFill/>
          </a:ln>
        </p:spPr>
        <p:style>
          <a:lnRef idx="1">
            <a:schemeClr val="accent1"/>
          </a:lnRef>
          <a:fillRef idx="3">
            <a:schemeClr val="accent1"/>
          </a:fillRef>
          <a:effectRef idx="2">
            <a:schemeClr val="accent1"/>
          </a:effectRef>
          <a:fontRef idx="minor">
            <a:schemeClr val="lt1"/>
          </a:fontRef>
        </p:style>
        <p:txBody>
          <a:bodyPr rtlCol="0" anchor="ctr" lIns="36000" tIns="36000" rIns="36000" bIns="36000"/>
          <a:lstStyle/>
          <a:p>
            <a:pPr algn="ctr"/>
            <a:r>
              <a:rPr sz="800">
                <a:solidFill>
                  <a:srgbClr val="FFFFFF"/>
                </a:solidFill>
                <a:latin typeface="Bernhard Modern"/>
              </a:rPr>
              <a:t>약 30분</a:t>
            </a:r>
          </a:p>
        </p:txBody>
      </p:sp>
      <p:sp>
        <p:nvSpPr>
          <p:cNvPr id="36" name="Rectangle 35"/>
          <p:cNvSpPr/>
          <p:nvPr/>
        </p:nvSpPr>
        <p:spPr>
          <a:xfrm>
            <a:off x="180000" y="7632000"/>
            <a:ext cx="7200000" cy="190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8000" y="7740000"/>
            <a:ext cx="6984000" cy="1008000"/>
          </a:xfrm>
          <a:prstGeom prst="rect">
            <a:avLst/>
          </a:prstGeom>
          <a:noFill/>
        </p:spPr>
        <p:txBody>
          <a:bodyPr wrap="square" lIns="72000" tIns="54000" rIns="72000" bIns="54000">
            <a:spAutoFit/>
          </a:bodyPr>
          <a:lstStyle/>
          <a:p>
            <a:pPr algn="l"/>
            <a:r>
              <a:rPr sz="850" b="0">
                <a:solidFill>
                  <a:srgbClr val="666666"/>
                </a:solidFill>
                <a:latin typeface="Pretendard"/>
              </a:rPr>
              <a:t>기립근을 강화하고 틀어진 몸의 중심을 바로잡습니다. 만성적인 어깨결림과 승모근 솟음을 완화시켜 신체 전반에 유연함과 편안함을 주고 라인을 정리하여 한결 가벼운 신체를 가꿉니다.</a:t>
            </a:r>
          </a:p>
        </p:txBody>
      </p:sp>
      <p:sp>
        <p:nvSpPr>
          <p:cNvPr id="38" name="Rectangle 37"/>
          <p:cNvSpPr/>
          <p:nvPr/>
        </p:nvSpPr>
        <p:spPr>
          <a:xfrm>
            <a:off x="288000" y="8820000"/>
            <a:ext cx="10440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척추 교정</a:t>
            </a:r>
          </a:p>
        </p:txBody>
      </p:sp>
      <p:sp>
        <p:nvSpPr>
          <p:cNvPr id="39" name="Rectangle 38"/>
          <p:cNvSpPr/>
          <p:nvPr/>
        </p:nvSpPr>
        <p:spPr>
          <a:xfrm>
            <a:off x="1440000" y="8820000"/>
            <a:ext cx="11808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승모근 완화</a:t>
            </a:r>
          </a:p>
        </p:txBody>
      </p:sp>
      <p:sp>
        <p:nvSpPr>
          <p:cNvPr id="40" name="Rectangle 39"/>
          <p:cNvSpPr/>
          <p:nvPr/>
        </p:nvSpPr>
        <p:spPr>
          <a:xfrm>
            <a:off x="2728800" y="8820000"/>
            <a:ext cx="14544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라운드숄더 개선</a:t>
            </a:r>
          </a:p>
        </p:txBody>
      </p:sp>
      <p:sp>
        <p:nvSpPr>
          <p:cNvPr id="41" name="Rectangle 40"/>
          <p:cNvSpPr/>
          <p:nvPr/>
        </p:nvSpPr>
        <p:spPr>
          <a:xfrm>
            <a:off x="4291200" y="8820000"/>
            <a:ext cx="10440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군살 정리</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6000" cy="1069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162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80000" y="-360000"/>
            <a:ext cx="936000" cy="936000"/>
          </a:xfrm>
          <a:prstGeom prst="ellipse">
            <a:avLst/>
          </a:prstGeom>
          <a:solidFill>
            <a:srgbClr val="D06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00" y="288000"/>
            <a:ext cx="6408000" cy="252000"/>
          </a:xfrm>
          <a:prstGeom prst="rect">
            <a:avLst/>
          </a:prstGeom>
          <a:noFill/>
        </p:spPr>
        <p:txBody>
          <a:bodyPr wrap="square" lIns="72000" tIns="54000" rIns="72000" bIns="54000">
            <a:spAutoFit/>
          </a:bodyPr>
          <a:lstStyle/>
          <a:p>
            <a:pPr algn="l"/>
            <a:r>
              <a:rPr sz="800" b="0">
                <a:solidFill>
                  <a:srgbClr val="F0956A"/>
                </a:solidFill>
                <a:latin typeface="Bernhard Modern"/>
              </a:rPr>
              <a:t>TREATMENT MENU</a:t>
            </a:r>
          </a:p>
        </p:txBody>
      </p:sp>
      <p:sp>
        <p:nvSpPr>
          <p:cNvPr id="6" name="TextBox 5"/>
          <p:cNvSpPr txBox="1"/>
          <p:nvPr/>
        </p:nvSpPr>
        <p:spPr>
          <a:xfrm>
            <a:off x="576000" y="612000"/>
            <a:ext cx="6408000" cy="468000"/>
          </a:xfrm>
          <a:prstGeom prst="rect">
            <a:avLst/>
          </a:prstGeom>
          <a:noFill/>
        </p:spPr>
        <p:txBody>
          <a:bodyPr wrap="square" lIns="72000" tIns="54000" rIns="72000" bIns="54000">
            <a:spAutoFit/>
          </a:bodyPr>
          <a:lstStyle/>
          <a:p>
            <a:pPr algn="l"/>
            <a:r>
              <a:rPr sz="1800" b="1">
                <a:solidFill>
                  <a:srgbClr val="FFFFFF"/>
                </a:solidFill>
                <a:latin typeface="Pretendard"/>
              </a:rPr>
              <a:t>트리트먼트 프로그램</a:t>
            </a:r>
          </a:p>
        </p:txBody>
      </p:sp>
      <p:sp>
        <p:nvSpPr>
          <p:cNvPr id="7" name="TextBox 6"/>
          <p:cNvSpPr txBox="1"/>
          <p:nvPr/>
        </p:nvSpPr>
        <p:spPr>
          <a:xfrm>
            <a:off x="576000" y="1152000"/>
            <a:ext cx="6408000" cy="360000"/>
          </a:xfrm>
          <a:prstGeom prst="rect">
            <a:avLst/>
          </a:prstGeom>
          <a:noFill/>
        </p:spPr>
        <p:txBody>
          <a:bodyPr wrap="square" lIns="72000" tIns="54000" rIns="72000" bIns="54000">
            <a:spAutoFit/>
          </a:bodyPr>
          <a:lstStyle/>
          <a:p>
            <a:pPr algn="l"/>
            <a:r>
              <a:rPr sz="800" b="0">
                <a:solidFill>
                  <a:srgbClr val="CCCCCC"/>
                </a:solidFill>
                <a:latin typeface="Pretendard"/>
              </a:rPr>
              <a:t>하체 · 전신 — 관리 효과 및 시간 안내</a:t>
            </a:r>
          </a:p>
        </p:txBody>
      </p:sp>
      <p:sp>
        <p:nvSpPr>
          <p:cNvPr id="8" name="Rectangle 7"/>
          <p:cNvSpPr/>
          <p:nvPr/>
        </p:nvSpPr>
        <p:spPr>
          <a:xfrm>
            <a:off x="576000" y="10188000"/>
            <a:ext cx="6408000" cy="144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10224000"/>
            <a:ext cx="1800000" cy="252000"/>
          </a:xfrm>
          <a:prstGeom prst="rect">
            <a:avLst/>
          </a:prstGeom>
          <a:noFill/>
        </p:spPr>
        <p:txBody>
          <a:bodyPr wrap="square" lIns="72000" tIns="54000" rIns="72000" bIns="54000">
            <a:spAutoFit/>
          </a:bodyPr>
          <a:lstStyle/>
          <a:p>
            <a:pPr algn="l"/>
            <a:r>
              <a:rPr sz="700" b="0">
                <a:solidFill>
                  <a:srgbClr val="CCCCCC"/>
                </a:solidFill>
                <a:latin typeface="Pretendard"/>
              </a:rPr>
              <a:t>오블리브의원</a:t>
            </a:r>
          </a:p>
        </p:txBody>
      </p:sp>
      <p:sp>
        <p:nvSpPr>
          <p:cNvPr id="10" name="TextBox 9"/>
          <p:cNvSpPr txBox="1"/>
          <p:nvPr/>
        </p:nvSpPr>
        <p:spPr>
          <a:xfrm>
            <a:off x="2736000" y="10224000"/>
            <a:ext cx="2448000" cy="252000"/>
          </a:xfrm>
          <a:prstGeom prst="rect">
            <a:avLst/>
          </a:prstGeom>
          <a:noFill/>
        </p:spPr>
        <p:txBody>
          <a:bodyPr wrap="square" lIns="72000" tIns="54000" rIns="72000" bIns="54000">
            <a:spAutoFit/>
          </a:bodyPr>
          <a:lstStyle/>
          <a:p>
            <a:pPr algn="ctr"/>
            <a:r>
              <a:rPr sz="700" b="0">
                <a:solidFill>
                  <a:srgbClr val="CCCCCC"/>
                </a:solidFill>
                <a:latin typeface="Bernhard Modern"/>
              </a:rPr>
              <a:t>OBLIV CLINIC · DERMAWAVE</a:t>
            </a:r>
          </a:p>
        </p:txBody>
      </p:sp>
      <p:sp>
        <p:nvSpPr>
          <p:cNvPr id="11" name="Rectangle 10"/>
          <p:cNvSpPr/>
          <p:nvPr/>
        </p:nvSpPr>
        <p:spPr>
          <a:xfrm>
            <a:off x="25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000" y="10224000"/>
            <a:ext cx="1008000" cy="252000"/>
          </a:xfrm>
          <a:prstGeom prst="rect">
            <a:avLst/>
          </a:prstGeom>
          <a:noFill/>
        </p:spPr>
        <p:txBody>
          <a:bodyPr wrap="square" lIns="72000" tIns="54000" rIns="72000" bIns="54000">
            <a:spAutoFit/>
          </a:bodyPr>
          <a:lstStyle/>
          <a:p>
            <a:pPr algn="r"/>
            <a:r>
              <a:rPr sz="700" b="0">
                <a:solidFill>
                  <a:srgbClr val="CCCCCC"/>
                </a:solidFill>
                <a:latin typeface="Bernhard Modern"/>
              </a:rPr>
              <a:t>05</a:t>
            </a:r>
          </a:p>
        </p:txBody>
      </p:sp>
      <p:sp>
        <p:nvSpPr>
          <p:cNvPr id="14" name="Rectangle 13"/>
          <p:cNvSpPr/>
          <p:nvPr/>
        </p:nvSpPr>
        <p:spPr>
          <a:xfrm>
            <a:off x="180000" y="1800000"/>
            <a:ext cx="7200000" cy="50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8000" y="1908000"/>
            <a:ext cx="5472000" cy="324000"/>
          </a:xfrm>
          <a:prstGeom prst="rect">
            <a:avLst/>
          </a:prstGeom>
          <a:noFill/>
        </p:spPr>
        <p:txBody>
          <a:bodyPr wrap="square" lIns="72000" tIns="54000" rIns="72000" bIns="54000">
            <a:spAutoFit/>
          </a:bodyPr>
          <a:lstStyle/>
          <a:p>
            <a:pPr algn="l"/>
            <a:r>
              <a:rPr sz="1050" b="1">
                <a:solidFill>
                  <a:srgbClr val="FFFFFF"/>
                </a:solidFill>
                <a:latin typeface="Pretendard"/>
              </a:rPr>
              <a:t>하체 트리트먼트</a:t>
            </a:r>
          </a:p>
        </p:txBody>
      </p:sp>
      <p:sp>
        <p:nvSpPr>
          <p:cNvPr id="16" name="Rectangle 15"/>
          <p:cNvSpPr/>
          <p:nvPr/>
        </p:nvSpPr>
        <p:spPr>
          <a:xfrm>
            <a:off x="5868000" y="1908000"/>
            <a:ext cx="1440000" cy="288000"/>
          </a:xfrm>
          <a:prstGeom prst="rect">
            <a:avLst/>
          </a:prstGeom>
          <a:solidFill>
            <a:srgbClr val="A04812"/>
          </a:solidFill>
          <a:ln>
            <a:noFill/>
          </a:ln>
        </p:spPr>
        <p:style>
          <a:lnRef idx="1">
            <a:schemeClr val="accent1"/>
          </a:lnRef>
          <a:fillRef idx="3">
            <a:schemeClr val="accent1"/>
          </a:fillRef>
          <a:effectRef idx="2">
            <a:schemeClr val="accent1"/>
          </a:effectRef>
          <a:fontRef idx="minor">
            <a:schemeClr val="lt1"/>
          </a:fontRef>
        </p:style>
        <p:txBody>
          <a:bodyPr rtlCol="0" anchor="ctr" lIns="36000" tIns="36000" rIns="36000" bIns="36000"/>
          <a:lstStyle/>
          <a:p>
            <a:pPr algn="ctr"/>
            <a:r>
              <a:rPr sz="800">
                <a:solidFill>
                  <a:srgbClr val="FFFFFF"/>
                </a:solidFill>
                <a:latin typeface="Bernhard Modern"/>
              </a:rPr>
              <a:t>약 40분</a:t>
            </a:r>
          </a:p>
        </p:txBody>
      </p:sp>
      <p:sp>
        <p:nvSpPr>
          <p:cNvPr id="17" name="Rectangle 16"/>
          <p:cNvSpPr/>
          <p:nvPr/>
        </p:nvSpPr>
        <p:spPr>
          <a:xfrm>
            <a:off x="180000" y="2304000"/>
            <a:ext cx="7200000" cy="190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8000" y="2412000"/>
            <a:ext cx="6984000" cy="1008000"/>
          </a:xfrm>
          <a:prstGeom prst="rect">
            <a:avLst/>
          </a:prstGeom>
          <a:noFill/>
        </p:spPr>
        <p:txBody>
          <a:bodyPr wrap="square" lIns="72000" tIns="54000" rIns="72000" bIns="54000">
            <a:spAutoFit/>
          </a:bodyPr>
          <a:lstStyle/>
          <a:p>
            <a:pPr algn="l"/>
            <a:r>
              <a:rPr sz="850" b="0">
                <a:solidFill>
                  <a:srgbClr val="666666"/>
                </a:solidFill>
                <a:latin typeface="Pretendard"/>
              </a:rPr>
              <a:t>고착된 근막을 풀어주고 림프의 순환을 도와 붓기를 제거합니다. 비대해진 셀룰라이트를 감소시켜 보다 가볍고 매끈해진 하체를 가꾸는 데 도움을 줍니다.</a:t>
            </a:r>
          </a:p>
        </p:txBody>
      </p:sp>
      <p:sp>
        <p:nvSpPr>
          <p:cNvPr id="19" name="Rectangle 18"/>
          <p:cNvSpPr/>
          <p:nvPr/>
        </p:nvSpPr>
        <p:spPr>
          <a:xfrm>
            <a:off x="288000" y="3492000"/>
            <a:ext cx="14544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다리 부종 완화</a:t>
            </a:r>
          </a:p>
        </p:txBody>
      </p:sp>
      <p:sp>
        <p:nvSpPr>
          <p:cNvPr id="20" name="Rectangle 19"/>
          <p:cNvSpPr/>
          <p:nvPr/>
        </p:nvSpPr>
        <p:spPr>
          <a:xfrm>
            <a:off x="1850400" y="3492000"/>
            <a:ext cx="7704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슬리밍</a:t>
            </a:r>
          </a:p>
        </p:txBody>
      </p:sp>
      <p:sp>
        <p:nvSpPr>
          <p:cNvPr id="21" name="Rectangle 20"/>
          <p:cNvSpPr/>
          <p:nvPr/>
        </p:nvSpPr>
        <p:spPr>
          <a:xfrm>
            <a:off x="2728800" y="3492000"/>
            <a:ext cx="14544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셀룰라이트 제거</a:t>
            </a:r>
          </a:p>
        </p:txBody>
      </p:sp>
      <p:sp>
        <p:nvSpPr>
          <p:cNvPr id="22" name="Rectangle 21"/>
          <p:cNvSpPr/>
          <p:nvPr/>
        </p:nvSpPr>
        <p:spPr>
          <a:xfrm>
            <a:off x="4291200" y="3492000"/>
            <a:ext cx="10440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피부 토닝</a:t>
            </a:r>
          </a:p>
        </p:txBody>
      </p:sp>
      <p:sp>
        <p:nvSpPr>
          <p:cNvPr id="23" name="Rectangle 22"/>
          <p:cNvSpPr/>
          <p:nvPr/>
        </p:nvSpPr>
        <p:spPr>
          <a:xfrm>
            <a:off x="5443200" y="3492000"/>
            <a:ext cx="10440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착색 완화</a:t>
            </a:r>
          </a:p>
        </p:txBody>
      </p:sp>
      <p:sp>
        <p:nvSpPr>
          <p:cNvPr id="24" name="Rectangle 23"/>
          <p:cNvSpPr/>
          <p:nvPr/>
        </p:nvSpPr>
        <p:spPr>
          <a:xfrm>
            <a:off x="180000" y="4464000"/>
            <a:ext cx="7200000" cy="504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8000" y="4572000"/>
            <a:ext cx="5472000" cy="324000"/>
          </a:xfrm>
          <a:prstGeom prst="rect">
            <a:avLst/>
          </a:prstGeom>
          <a:noFill/>
        </p:spPr>
        <p:txBody>
          <a:bodyPr wrap="square" lIns="72000" tIns="54000" rIns="72000" bIns="54000">
            <a:spAutoFit/>
          </a:bodyPr>
          <a:lstStyle/>
          <a:p>
            <a:pPr algn="l"/>
            <a:r>
              <a:rPr sz="1050" b="1">
                <a:solidFill>
                  <a:srgbClr val="FFFFFF"/>
                </a:solidFill>
                <a:latin typeface="Pretendard"/>
              </a:rPr>
              <a:t>전신 트리트먼트</a:t>
            </a:r>
          </a:p>
        </p:txBody>
      </p:sp>
      <p:sp>
        <p:nvSpPr>
          <p:cNvPr id="26" name="Rectangle 25"/>
          <p:cNvSpPr/>
          <p:nvPr/>
        </p:nvSpPr>
        <p:spPr>
          <a:xfrm>
            <a:off x="5868000" y="4572000"/>
            <a:ext cx="1440000" cy="288000"/>
          </a:xfrm>
          <a:prstGeom prst="rect">
            <a:avLst/>
          </a:prstGeom>
          <a:solidFill>
            <a:srgbClr val="A04812"/>
          </a:solidFill>
          <a:ln>
            <a:noFill/>
          </a:ln>
        </p:spPr>
        <p:style>
          <a:lnRef idx="1">
            <a:schemeClr val="accent1"/>
          </a:lnRef>
          <a:fillRef idx="3">
            <a:schemeClr val="accent1"/>
          </a:fillRef>
          <a:effectRef idx="2">
            <a:schemeClr val="accent1"/>
          </a:effectRef>
          <a:fontRef idx="minor">
            <a:schemeClr val="lt1"/>
          </a:fontRef>
        </p:style>
        <p:txBody>
          <a:bodyPr rtlCol="0" anchor="ctr" lIns="36000" tIns="36000" rIns="36000" bIns="36000"/>
          <a:lstStyle/>
          <a:p>
            <a:pPr algn="ctr"/>
            <a:r>
              <a:rPr sz="800">
                <a:solidFill>
                  <a:srgbClr val="FFFFFF"/>
                </a:solidFill>
                <a:latin typeface="Bernhard Modern"/>
              </a:rPr>
              <a:t>약 90분</a:t>
            </a:r>
          </a:p>
        </p:txBody>
      </p:sp>
      <p:sp>
        <p:nvSpPr>
          <p:cNvPr id="27" name="Rectangle 26"/>
          <p:cNvSpPr/>
          <p:nvPr/>
        </p:nvSpPr>
        <p:spPr>
          <a:xfrm>
            <a:off x="180000" y="4968000"/>
            <a:ext cx="7200000" cy="1908000"/>
          </a:xfrm>
          <a:prstGeom prst="rect">
            <a:avLst/>
          </a:prstGeom>
          <a:solidFill>
            <a:srgbClr val="FDF6F0"/>
          </a:solidFill>
          <a:ln w="6350">
            <a:solidFill>
              <a:srgbClr val="FA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8000" y="5076000"/>
            <a:ext cx="6984000" cy="1008000"/>
          </a:xfrm>
          <a:prstGeom prst="rect">
            <a:avLst/>
          </a:prstGeom>
          <a:noFill/>
        </p:spPr>
        <p:txBody>
          <a:bodyPr wrap="square" lIns="72000" tIns="54000" rIns="72000" bIns="54000">
            <a:spAutoFit/>
          </a:bodyPr>
          <a:lstStyle/>
          <a:p>
            <a:pPr algn="l"/>
            <a:r>
              <a:rPr sz="850" b="0">
                <a:solidFill>
                  <a:srgbClr val="666666"/>
                </a:solidFill>
                <a:latin typeface="Pretendard"/>
              </a:rPr>
              <a:t>근막·림프·혈관·셀룰라이트를 모두 자극하여 유착된 근막을 재배열하고 피하지방층의 지방세포를 감소시킵니다. 림프와 혈관의 흐름을 개선시켜 체온을 높이고 염증을 완화하여 몸속부터 근원적인 변화를 일으킵니다.</a:t>
            </a:r>
          </a:p>
        </p:txBody>
      </p:sp>
      <p:sp>
        <p:nvSpPr>
          <p:cNvPr id="29" name="Rectangle 28"/>
          <p:cNvSpPr/>
          <p:nvPr/>
        </p:nvSpPr>
        <p:spPr>
          <a:xfrm>
            <a:off x="288000" y="6156000"/>
            <a:ext cx="14544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신체 순환 개선</a:t>
            </a:r>
          </a:p>
        </p:txBody>
      </p:sp>
      <p:sp>
        <p:nvSpPr>
          <p:cNvPr id="30" name="Rectangle 29"/>
          <p:cNvSpPr/>
          <p:nvPr/>
        </p:nvSpPr>
        <p:spPr>
          <a:xfrm>
            <a:off x="1850400" y="6156000"/>
            <a:ext cx="11808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전신 슬리밍</a:t>
            </a:r>
          </a:p>
        </p:txBody>
      </p:sp>
      <p:sp>
        <p:nvSpPr>
          <p:cNvPr id="31" name="Rectangle 30"/>
          <p:cNvSpPr/>
          <p:nvPr/>
        </p:nvSpPr>
        <p:spPr>
          <a:xfrm>
            <a:off x="3139199" y="6156000"/>
            <a:ext cx="1591199"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신체 에너지 강화</a:t>
            </a:r>
          </a:p>
        </p:txBody>
      </p:sp>
      <p:sp>
        <p:nvSpPr>
          <p:cNvPr id="32" name="Rectangle 31"/>
          <p:cNvSpPr/>
          <p:nvPr/>
        </p:nvSpPr>
        <p:spPr>
          <a:xfrm>
            <a:off x="4838399" y="6156000"/>
            <a:ext cx="11808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근막 재배열</a:t>
            </a:r>
          </a:p>
        </p:txBody>
      </p:sp>
      <p:sp>
        <p:nvSpPr>
          <p:cNvPr id="33" name="Rectangle 32"/>
          <p:cNvSpPr/>
          <p:nvPr/>
        </p:nvSpPr>
        <p:spPr>
          <a:xfrm>
            <a:off x="6127200" y="6156000"/>
            <a:ext cx="1044000" cy="252000"/>
          </a:xfrm>
          <a:prstGeom prst="rect">
            <a:avLst/>
          </a:prstGeom>
          <a:solidFill>
            <a:srgbClr val="FFFFFF"/>
          </a:solidFill>
          <a:ln w="6350">
            <a:solidFill>
              <a:srgbClr val="D97036"/>
            </a:solidFill>
          </a:ln>
        </p:spPr>
        <p:style>
          <a:lnRef idx="1">
            <a:schemeClr val="accent1"/>
          </a:lnRef>
          <a:fillRef idx="3">
            <a:schemeClr val="accent1"/>
          </a:fillRef>
          <a:effectRef idx="2">
            <a:schemeClr val="accent1"/>
          </a:effectRef>
          <a:fontRef idx="minor">
            <a:schemeClr val="lt1"/>
          </a:fontRef>
        </p:style>
        <p:txBody>
          <a:bodyPr rtlCol="0" anchor="ctr" lIns="72000" tIns="36000" rIns="72000" bIns="36000"/>
          <a:lstStyle/>
          <a:p>
            <a:pPr algn="ctr"/>
            <a:r>
              <a:rPr sz="750">
                <a:solidFill>
                  <a:srgbClr val="C45A1A"/>
                </a:solidFill>
                <a:latin typeface="Pretendard"/>
              </a:rPr>
              <a:t>염증 완화</a:t>
            </a:r>
          </a:p>
        </p:txBody>
      </p:sp>
      <p:sp>
        <p:nvSpPr>
          <p:cNvPr id="34" name="Rectangle 33"/>
          <p:cNvSpPr/>
          <p:nvPr/>
        </p:nvSpPr>
        <p:spPr>
          <a:xfrm>
            <a:off x="180000" y="7236000"/>
            <a:ext cx="7200000" cy="144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80000" y="7416000"/>
            <a:ext cx="7200000" cy="1368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8000" y="7524000"/>
            <a:ext cx="6984000" cy="324000"/>
          </a:xfrm>
          <a:prstGeom prst="rect">
            <a:avLst/>
          </a:prstGeom>
          <a:noFill/>
        </p:spPr>
        <p:txBody>
          <a:bodyPr wrap="square" lIns="72000" tIns="54000" rIns="72000" bIns="54000">
            <a:spAutoFit/>
          </a:bodyPr>
          <a:lstStyle/>
          <a:p>
            <a:pPr algn="l"/>
            <a:r>
              <a:rPr sz="1100" b="1">
                <a:solidFill>
                  <a:srgbClr val="FFFFFF"/>
                </a:solidFill>
                <a:latin typeface="Pretendard"/>
              </a:rPr>
              <a:t>트리트먼트 요약</a:t>
            </a:r>
          </a:p>
        </p:txBody>
      </p:sp>
      <p:sp>
        <p:nvSpPr>
          <p:cNvPr id="37" name="TextBox 36"/>
          <p:cNvSpPr txBox="1"/>
          <p:nvPr/>
        </p:nvSpPr>
        <p:spPr>
          <a:xfrm>
            <a:off x="288000" y="7920000"/>
            <a:ext cx="6984000" cy="396000"/>
          </a:xfrm>
          <a:prstGeom prst="rect">
            <a:avLst/>
          </a:prstGeom>
          <a:noFill/>
        </p:spPr>
        <p:txBody>
          <a:bodyPr wrap="square" lIns="72000" tIns="54000" rIns="72000" bIns="54000">
            <a:spAutoFit/>
          </a:bodyPr>
          <a:lstStyle/>
          <a:p>
            <a:pPr algn="l"/>
            <a:r>
              <a:rPr sz="850" b="0">
                <a:solidFill>
                  <a:srgbClr val="EEDDD0"/>
                </a:solidFill>
                <a:latin typeface="Pretendard"/>
              </a:rPr>
              <a:t>페이스&amp;데콜테 20분  ·  상체전면 30분  ·  상체후면 30분  ·  하체 40분  ·  전신 90분</a:t>
            </a:r>
          </a:p>
        </p:txBody>
      </p:sp>
      <p:sp>
        <p:nvSpPr>
          <p:cNvPr id="38" name="TextBox 37"/>
          <p:cNvSpPr txBox="1"/>
          <p:nvPr/>
        </p:nvSpPr>
        <p:spPr>
          <a:xfrm>
            <a:off x="288000" y="8244000"/>
            <a:ext cx="6984000" cy="396000"/>
          </a:xfrm>
          <a:prstGeom prst="rect">
            <a:avLst/>
          </a:prstGeom>
          <a:noFill/>
        </p:spPr>
        <p:txBody>
          <a:bodyPr wrap="square" lIns="72000" tIns="54000" rIns="72000" bIns="54000">
            <a:spAutoFit/>
          </a:bodyPr>
          <a:lstStyle/>
          <a:p>
            <a:pPr algn="l"/>
            <a:r>
              <a:rPr sz="850" b="0">
                <a:solidFill>
                  <a:srgbClr val="EEDDD0"/>
                </a:solidFill>
                <a:latin typeface="Pretendard"/>
              </a:rPr>
              <a:t>효과의 지속을 위해 주 2~3회 시술, 10회 이상을 권장드립니다.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6000" cy="1069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560000" cy="162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480000" y="-360000"/>
            <a:ext cx="936000" cy="936000"/>
          </a:xfrm>
          <a:prstGeom prst="ellipse">
            <a:avLst/>
          </a:prstGeom>
          <a:solidFill>
            <a:srgbClr val="D06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76000" y="288000"/>
            <a:ext cx="6408000" cy="252000"/>
          </a:xfrm>
          <a:prstGeom prst="rect">
            <a:avLst/>
          </a:prstGeom>
          <a:noFill/>
        </p:spPr>
        <p:txBody>
          <a:bodyPr wrap="square" lIns="72000" tIns="54000" rIns="72000" bIns="54000">
            <a:spAutoFit/>
          </a:bodyPr>
          <a:lstStyle/>
          <a:p>
            <a:pPr algn="l"/>
            <a:r>
              <a:rPr sz="800" b="0">
                <a:solidFill>
                  <a:srgbClr val="F0956A"/>
                </a:solidFill>
                <a:latin typeface="Bernhard Modern"/>
              </a:rPr>
              <a:t>Q &amp; A</a:t>
            </a:r>
          </a:p>
        </p:txBody>
      </p:sp>
      <p:sp>
        <p:nvSpPr>
          <p:cNvPr id="6" name="TextBox 5"/>
          <p:cNvSpPr txBox="1"/>
          <p:nvPr/>
        </p:nvSpPr>
        <p:spPr>
          <a:xfrm>
            <a:off x="576000" y="612000"/>
            <a:ext cx="6408000" cy="468000"/>
          </a:xfrm>
          <a:prstGeom prst="rect">
            <a:avLst/>
          </a:prstGeom>
          <a:noFill/>
        </p:spPr>
        <p:txBody>
          <a:bodyPr wrap="square" lIns="72000" tIns="54000" rIns="72000" bIns="54000">
            <a:spAutoFit/>
          </a:bodyPr>
          <a:lstStyle/>
          <a:p>
            <a:pPr algn="l"/>
            <a:r>
              <a:rPr sz="1800" b="1">
                <a:solidFill>
                  <a:srgbClr val="FFFFFF"/>
                </a:solidFill>
                <a:latin typeface="Pretendard"/>
              </a:rPr>
              <a:t>자주 묻는 질문</a:t>
            </a:r>
          </a:p>
        </p:txBody>
      </p:sp>
      <p:sp>
        <p:nvSpPr>
          <p:cNvPr id="7" name="TextBox 6"/>
          <p:cNvSpPr txBox="1"/>
          <p:nvPr/>
        </p:nvSpPr>
        <p:spPr>
          <a:xfrm>
            <a:off x="576000" y="1152000"/>
            <a:ext cx="6408000" cy="360000"/>
          </a:xfrm>
          <a:prstGeom prst="rect">
            <a:avLst/>
          </a:prstGeom>
          <a:noFill/>
        </p:spPr>
        <p:txBody>
          <a:bodyPr wrap="square" lIns="72000" tIns="54000" rIns="72000" bIns="54000">
            <a:spAutoFit/>
          </a:bodyPr>
          <a:lstStyle/>
          <a:p>
            <a:pPr algn="l"/>
            <a:r>
              <a:rPr sz="800" b="0">
                <a:solidFill>
                  <a:srgbClr val="CCCCCC"/>
                </a:solidFill>
                <a:latin typeface="Pretendard"/>
              </a:rPr>
              <a:t>상담 시 환자분들이 가장 많이 문의하시는 내용을 정리했습니다</a:t>
            </a:r>
          </a:p>
        </p:txBody>
      </p:sp>
      <p:sp>
        <p:nvSpPr>
          <p:cNvPr id="8" name="Rectangle 7"/>
          <p:cNvSpPr/>
          <p:nvPr/>
        </p:nvSpPr>
        <p:spPr>
          <a:xfrm>
            <a:off x="576000" y="10188000"/>
            <a:ext cx="6408000" cy="144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00" y="10224000"/>
            <a:ext cx="1800000" cy="252000"/>
          </a:xfrm>
          <a:prstGeom prst="rect">
            <a:avLst/>
          </a:prstGeom>
          <a:noFill/>
        </p:spPr>
        <p:txBody>
          <a:bodyPr wrap="square" lIns="72000" tIns="54000" rIns="72000" bIns="54000">
            <a:spAutoFit/>
          </a:bodyPr>
          <a:lstStyle/>
          <a:p>
            <a:pPr algn="l"/>
            <a:r>
              <a:rPr sz="700" b="0">
                <a:solidFill>
                  <a:srgbClr val="CCCCCC"/>
                </a:solidFill>
                <a:latin typeface="Pretendard"/>
              </a:rPr>
              <a:t>오블리브의원</a:t>
            </a:r>
          </a:p>
        </p:txBody>
      </p:sp>
      <p:sp>
        <p:nvSpPr>
          <p:cNvPr id="10" name="TextBox 9"/>
          <p:cNvSpPr txBox="1"/>
          <p:nvPr/>
        </p:nvSpPr>
        <p:spPr>
          <a:xfrm>
            <a:off x="2736000" y="10224000"/>
            <a:ext cx="2448000" cy="252000"/>
          </a:xfrm>
          <a:prstGeom prst="rect">
            <a:avLst/>
          </a:prstGeom>
          <a:noFill/>
        </p:spPr>
        <p:txBody>
          <a:bodyPr wrap="square" lIns="72000" tIns="54000" rIns="72000" bIns="54000">
            <a:spAutoFit/>
          </a:bodyPr>
          <a:lstStyle/>
          <a:p>
            <a:pPr algn="ctr"/>
            <a:r>
              <a:rPr sz="700" b="0">
                <a:solidFill>
                  <a:srgbClr val="CCCCCC"/>
                </a:solidFill>
                <a:latin typeface="Bernhard Modern"/>
              </a:rPr>
              <a:t>OBLIV CLINIC · DERMAWAVE</a:t>
            </a:r>
          </a:p>
        </p:txBody>
      </p:sp>
      <p:sp>
        <p:nvSpPr>
          <p:cNvPr id="11" name="Rectangle 10"/>
          <p:cNvSpPr/>
          <p:nvPr/>
        </p:nvSpPr>
        <p:spPr>
          <a:xfrm>
            <a:off x="25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292000" y="10314000"/>
            <a:ext cx="72000" cy="72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000" y="10224000"/>
            <a:ext cx="1008000" cy="252000"/>
          </a:xfrm>
          <a:prstGeom prst="rect">
            <a:avLst/>
          </a:prstGeom>
          <a:noFill/>
        </p:spPr>
        <p:txBody>
          <a:bodyPr wrap="square" lIns="72000" tIns="54000" rIns="72000" bIns="54000">
            <a:spAutoFit/>
          </a:bodyPr>
          <a:lstStyle/>
          <a:p>
            <a:pPr algn="r"/>
            <a:r>
              <a:rPr sz="700" b="0">
                <a:solidFill>
                  <a:srgbClr val="CCCCCC"/>
                </a:solidFill>
                <a:latin typeface="Bernhard Modern"/>
              </a:rPr>
              <a:t>06</a:t>
            </a:r>
          </a:p>
        </p:txBody>
      </p:sp>
      <p:sp>
        <p:nvSpPr>
          <p:cNvPr id="14" name="Rectangle 13"/>
          <p:cNvSpPr/>
          <p:nvPr/>
        </p:nvSpPr>
        <p:spPr>
          <a:xfrm>
            <a:off x="180000" y="1800000"/>
            <a:ext cx="90000" cy="1368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000" y="1908000"/>
            <a:ext cx="6984000" cy="324000"/>
          </a:xfrm>
          <a:prstGeom prst="rect">
            <a:avLst/>
          </a:prstGeom>
          <a:noFill/>
        </p:spPr>
        <p:txBody>
          <a:bodyPr wrap="square" lIns="72000" tIns="54000" rIns="72000" bIns="54000">
            <a:spAutoFit/>
          </a:bodyPr>
          <a:lstStyle/>
          <a:p>
            <a:pPr algn="l"/>
            <a:r>
              <a:rPr sz="950" b="1">
                <a:solidFill>
                  <a:srgbClr val="C45A1A"/>
                </a:solidFill>
                <a:latin typeface="Pretendard"/>
              </a:rPr>
              <a:t>Q. 시술 시간은 얼마나 걸리나요?</a:t>
            </a:r>
          </a:p>
        </p:txBody>
      </p:sp>
      <p:sp>
        <p:nvSpPr>
          <p:cNvPr id="16" name="TextBox 15"/>
          <p:cNvSpPr txBox="1"/>
          <p:nvPr/>
        </p:nvSpPr>
        <p:spPr>
          <a:xfrm>
            <a:off x="360000" y="2304000"/>
            <a:ext cx="6984000" cy="792000"/>
          </a:xfrm>
          <a:prstGeom prst="rect">
            <a:avLst/>
          </a:prstGeom>
          <a:noFill/>
        </p:spPr>
        <p:txBody>
          <a:bodyPr wrap="square" lIns="72000" tIns="54000" rIns="72000" bIns="54000">
            <a:spAutoFit/>
          </a:bodyPr>
          <a:lstStyle/>
          <a:p>
            <a:pPr algn="l"/>
            <a:r>
              <a:rPr sz="850" b="0">
                <a:solidFill>
                  <a:srgbClr val="666666"/>
                </a:solidFill>
                <a:latin typeface="Pretendard"/>
              </a:rPr>
              <a:t>일반적으로 부위당 15~30분 소요됩니다. 하나의 장비로 고주파·MFR 툴·저주파·매직글러브 시술이 모두 가능하므로 기존 대비 짧은 시간 안에 복합 시술을 받으실 수 있습니다.</a:t>
            </a:r>
          </a:p>
        </p:txBody>
      </p:sp>
      <p:sp>
        <p:nvSpPr>
          <p:cNvPr id="17" name="Rectangle 16"/>
          <p:cNvSpPr/>
          <p:nvPr/>
        </p:nvSpPr>
        <p:spPr>
          <a:xfrm>
            <a:off x="180000" y="3240000"/>
            <a:ext cx="7200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0000" y="3420000"/>
            <a:ext cx="90000" cy="1368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000" y="3528000"/>
            <a:ext cx="6984000" cy="324000"/>
          </a:xfrm>
          <a:prstGeom prst="rect">
            <a:avLst/>
          </a:prstGeom>
          <a:noFill/>
        </p:spPr>
        <p:txBody>
          <a:bodyPr wrap="square" lIns="72000" tIns="54000" rIns="72000" bIns="54000">
            <a:spAutoFit/>
          </a:bodyPr>
          <a:lstStyle/>
          <a:p>
            <a:pPr algn="l"/>
            <a:r>
              <a:rPr sz="950" b="1">
                <a:solidFill>
                  <a:srgbClr val="C45A1A"/>
                </a:solidFill>
                <a:latin typeface="Pretendard"/>
              </a:rPr>
              <a:t>Q. 시술 효과는 바로 나타나나요?</a:t>
            </a:r>
          </a:p>
        </p:txBody>
      </p:sp>
      <p:sp>
        <p:nvSpPr>
          <p:cNvPr id="20" name="TextBox 19"/>
          <p:cNvSpPr txBox="1"/>
          <p:nvPr/>
        </p:nvSpPr>
        <p:spPr>
          <a:xfrm>
            <a:off x="360000" y="3924000"/>
            <a:ext cx="6984000" cy="792000"/>
          </a:xfrm>
          <a:prstGeom prst="rect">
            <a:avLst/>
          </a:prstGeom>
          <a:noFill/>
        </p:spPr>
        <p:txBody>
          <a:bodyPr wrap="square" lIns="72000" tIns="54000" rIns="72000" bIns="54000">
            <a:spAutoFit/>
          </a:bodyPr>
          <a:lstStyle/>
          <a:p>
            <a:pPr algn="l"/>
            <a:r>
              <a:rPr sz="850" b="0">
                <a:solidFill>
                  <a:srgbClr val="666666"/>
                </a:solidFill>
                <a:latin typeface="Pretendard"/>
              </a:rPr>
              <a:t>네, 1회 시술만으로도 즉각적인 효과를 확인하실 수 있습니다. 효과의 지속과 극대화를 위해 주 2~3회, 총 10회 이상의 시술을 권장드립니다.</a:t>
            </a:r>
          </a:p>
        </p:txBody>
      </p:sp>
      <p:sp>
        <p:nvSpPr>
          <p:cNvPr id="21" name="Rectangle 20"/>
          <p:cNvSpPr/>
          <p:nvPr/>
        </p:nvSpPr>
        <p:spPr>
          <a:xfrm>
            <a:off x="180000" y="4860000"/>
            <a:ext cx="7200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0000" y="5040000"/>
            <a:ext cx="90000" cy="1368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0000" y="5148000"/>
            <a:ext cx="6984000" cy="324000"/>
          </a:xfrm>
          <a:prstGeom prst="rect">
            <a:avLst/>
          </a:prstGeom>
          <a:noFill/>
        </p:spPr>
        <p:txBody>
          <a:bodyPr wrap="square" lIns="72000" tIns="54000" rIns="72000" bIns="54000">
            <a:spAutoFit/>
          </a:bodyPr>
          <a:lstStyle/>
          <a:p>
            <a:pPr algn="l"/>
            <a:r>
              <a:rPr sz="950" b="1">
                <a:solidFill>
                  <a:srgbClr val="C45A1A"/>
                </a:solidFill>
                <a:latin typeface="Pretendard"/>
              </a:rPr>
              <a:t>Q. 통증이 있거나 일상생활에 지장이 있나요?</a:t>
            </a:r>
          </a:p>
        </p:txBody>
      </p:sp>
      <p:sp>
        <p:nvSpPr>
          <p:cNvPr id="24" name="TextBox 23"/>
          <p:cNvSpPr txBox="1"/>
          <p:nvPr/>
        </p:nvSpPr>
        <p:spPr>
          <a:xfrm>
            <a:off x="360000" y="5544000"/>
            <a:ext cx="6984000" cy="792000"/>
          </a:xfrm>
          <a:prstGeom prst="rect">
            <a:avLst/>
          </a:prstGeom>
          <a:noFill/>
        </p:spPr>
        <p:txBody>
          <a:bodyPr wrap="square" lIns="72000" tIns="54000" rIns="72000" bIns="54000">
            <a:spAutoFit/>
          </a:bodyPr>
          <a:lstStyle/>
          <a:p>
            <a:pPr algn="l"/>
            <a:r>
              <a:rPr sz="850" b="0">
                <a:solidFill>
                  <a:srgbClr val="666666"/>
                </a:solidFill>
                <a:latin typeface="Pretendard"/>
              </a:rPr>
              <a:t>일반 고주파와 달리 더마웨이브는 심부열 에너지를 활용하기 때문에 통증 없이 부드럽고 편안한 관리가 가능합니다. 시술 직후 바로 일상생활로 복귀하실 수 있습니다.</a:t>
            </a:r>
          </a:p>
        </p:txBody>
      </p:sp>
      <p:sp>
        <p:nvSpPr>
          <p:cNvPr id="25" name="Rectangle 24"/>
          <p:cNvSpPr/>
          <p:nvPr/>
        </p:nvSpPr>
        <p:spPr>
          <a:xfrm>
            <a:off x="180000" y="6480000"/>
            <a:ext cx="7200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80000" y="6660000"/>
            <a:ext cx="90000" cy="1368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0000" y="6768000"/>
            <a:ext cx="6984000" cy="324000"/>
          </a:xfrm>
          <a:prstGeom prst="rect">
            <a:avLst/>
          </a:prstGeom>
          <a:noFill/>
        </p:spPr>
        <p:txBody>
          <a:bodyPr wrap="square" lIns="72000" tIns="54000" rIns="72000" bIns="54000">
            <a:spAutoFit/>
          </a:bodyPr>
          <a:lstStyle/>
          <a:p>
            <a:pPr algn="l"/>
            <a:r>
              <a:rPr sz="950" b="1">
                <a:solidFill>
                  <a:srgbClr val="C45A1A"/>
                </a:solidFill>
                <a:latin typeface="Pretendard"/>
              </a:rPr>
              <a:t>Q. 부작용은 없나요?</a:t>
            </a:r>
          </a:p>
        </p:txBody>
      </p:sp>
      <p:sp>
        <p:nvSpPr>
          <p:cNvPr id="28" name="TextBox 27"/>
          <p:cNvSpPr txBox="1"/>
          <p:nvPr/>
        </p:nvSpPr>
        <p:spPr>
          <a:xfrm>
            <a:off x="360000" y="7164000"/>
            <a:ext cx="6984000" cy="792000"/>
          </a:xfrm>
          <a:prstGeom prst="rect">
            <a:avLst/>
          </a:prstGeom>
          <a:noFill/>
        </p:spPr>
        <p:txBody>
          <a:bodyPr wrap="square" lIns="72000" tIns="54000" rIns="72000" bIns="54000">
            <a:spAutoFit/>
          </a:bodyPr>
          <a:lstStyle/>
          <a:p>
            <a:pPr algn="l"/>
            <a:r>
              <a:rPr sz="850" b="0">
                <a:solidFill>
                  <a:srgbClr val="666666"/>
                </a:solidFill>
                <a:latin typeface="Pretendard"/>
              </a:rPr>
              <a:t>더마웨이브는 비침습적 시술이며 신체의 자연치유능력을 극대화하는 방식으로 부작용은 거의 없습니다. 다만 근막 유착이 오래된 부위는 유착 해소 과정에서 피부 표면이 약간 붉어질 수 있으나 자연스럽게 사라집니다.</a:t>
            </a:r>
          </a:p>
        </p:txBody>
      </p:sp>
      <p:sp>
        <p:nvSpPr>
          <p:cNvPr id="29" name="Rectangle 28"/>
          <p:cNvSpPr/>
          <p:nvPr/>
        </p:nvSpPr>
        <p:spPr>
          <a:xfrm>
            <a:off x="180000" y="8100000"/>
            <a:ext cx="7200000" cy="10800"/>
          </a:xfrm>
          <a:prstGeom prst="rect">
            <a:avLst/>
          </a:prstGeom>
          <a:solidFill>
            <a:srgbClr val="FA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80000" y="8424000"/>
            <a:ext cx="7200000" cy="1260000"/>
          </a:xfrm>
          <a:prstGeom prst="rect">
            <a:avLst/>
          </a:prstGeom>
          <a:solidFill>
            <a:srgbClr val="C45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8000" y="8532000"/>
            <a:ext cx="6984000" cy="324000"/>
          </a:xfrm>
          <a:prstGeom prst="rect">
            <a:avLst/>
          </a:prstGeom>
          <a:noFill/>
        </p:spPr>
        <p:txBody>
          <a:bodyPr wrap="square" lIns="72000" tIns="54000" rIns="72000" bIns="54000">
            <a:spAutoFit/>
          </a:bodyPr>
          <a:lstStyle/>
          <a:p>
            <a:pPr algn="l"/>
            <a:r>
              <a:rPr sz="1100" b="1">
                <a:solidFill>
                  <a:srgbClr val="FFFFFF"/>
                </a:solidFill>
                <a:latin typeface="Pretendard"/>
              </a:rPr>
              <a:t>상담 안내</a:t>
            </a:r>
          </a:p>
        </p:txBody>
      </p:sp>
      <p:sp>
        <p:nvSpPr>
          <p:cNvPr id="32" name="TextBox 31"/>
          <p:cNvSpPr txBox="1"/>
          <p:nvPr/>
        </p:nvSpPr>
        <p:spPr>
          <a:xfrm>
            <a:off x="288000" y="8928000"/>
            <a:ext cx="6984000" cy="720000"/>
          </a:xfrm>
          <a:prstGeom prst="rect">
            <a:avLst/>
          </a:prstGeom>
          <a:noFill/>
        </p:spPr>
        <p:txBody>
          <a:bodyPr wrap="square" lIns="72000" tIns="54000" rIns="72000" bIns="54000">
            <a:spAutoFit/>
          </a:bodyPr>
          <a:lstStyle/>
          <a:p>
            <a:pPr algn="l"/>
            <a:r>
              <a:rPr sz="850" b="0">
                <a:solidFill>
                  <a:srgbClr val="EEDDD0"/>
                </a:solidFill>
                <a:latin typeface="Pretendard"/>
              </a:rPr>
              <a:t>담당 의료진과의 1:1 상담을 통해 고객님의 체형·피부 상태에 최적화된 트리트먼트 플랜을 제안해 드립니다. 궁금하신 사항은 언제든지 오블리브의원 상담팀으로 문의해 주시기 바랍니다.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